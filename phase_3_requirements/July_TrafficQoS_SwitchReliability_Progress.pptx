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Segoe UI"/>
              </a:rPr>
              <a:t>JULY 2026  ·  NS-3 ENHANCEMENT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Traffic QoS Model &amp; Switch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9F0FF"/>
                </a:solidFill>
                <a:latin typeface="Segoe UI"/>
              </a:rPr>
              <a:t>3-flow robot traffic · BSSID crash fix · recovery measurement · seed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486"/>
                </a:solidFill>
                <a:latin typeface="Segoe UI"/>
              </a:rPr>
              <a:t>Robot NW Connection Simulator  ·  Hybrid WiFi Mesh + 5G NR / LTE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5BE0"/>
                </a:solidFill>
                <a:latin typeface="Segoe U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E1B33"/>
                </a:solidFill>
                <a:latin typeface="Segoe UI"/>
              </a:rPr>
              <a:t>What this update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70432"/>
            <a:ext cx="100584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7899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E5BE0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087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1B33"/>
                </a:solidFill>
                <a:latin typeface="Segoe UI"/>
              </a:rPr>
              <a:t>July 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581912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486"/>
                </a:solidFill>
                <a:latin typeface="Segoe UI"/>
              </a:rPr>
              <a:t>3-flow QoS traffic model (Control / Sensor / Video) + per-flow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67128"/>
            <a:ext cx="107899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04288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E5BE0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25856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1B33"/>
                </a:solidFill>
                <a:latin typeface="Segoe UI"/>
              </a:rPr>
              <a:t>Crash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33172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486"/>
                </a:solidFill>
                <a:latin typeface="Segoe UI"/>
              </a:rPr>
              <a:t>WiFi BSSID assert during multi-AP roaming — root cause &amp; patch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16936"/>
            <a:ext cx="107899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54096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E5BE0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008376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1B33"/>
                </a:solidFill>
                <a:latin typeface="Segoe UI"/>
              </a:rPr>
              <a:t>Recovery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081528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486"/>
                </a:solidFill>
                <a:latin typeface="Segoe UI"/>
              </a:rPr>
              <a:t>Switch resolution improved from ~57% → ~80%+ on representative runs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66744"/>
            <a:ext cx="107899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03904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E5BE0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75818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1B33"/>
                </a:solidFill>
                <a:latin typeface="Segoe UI"/>
              </a:rPr>
              <a:t>Seed differences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831336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486"/>
                </a:solidFill>
                <a:latin typeface="Segoe UI"/>
              </a:rPr>
              <a:t>Full 3×3 matrix (seeds 6/7/8 × STA 5/10/15) — why one seed is not enough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16552"/>
            <a:ext cx="107899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53712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E5BE0"/>
                </a:solidFill>
                <a:latin typeface="Segoe U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5079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1B33"/>
                </a:solidFill>
                <a:latin typeface="Segoe UI"/>
              </a:rPr>
              <a:t>Alignment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581144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486"/>
                </a:solidFill>
                <a:latin typeface="Segoe UI"/>
              </a:rPr>
              <a:t>July plan checklist vs current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166360"/>
            <a:ext cx="107899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30352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E5BE0"/>
                </a:solidFill>
                <a:latin typeface="Segoe U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2578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1B33"/>
                </a:solidFill>
                <a:latin typeface="Segoe UI"/>
              </a:rPr>
              <a:t>Next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5330952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486"/>
                </a:solidFill>
                <a:latin typeface="Segoe UI"/>
              </a:rPr>
              <a:t>192-run campaign to produce the proper analysis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922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486"/>
                </a:solidFill>
                <a:latin typeface="Segoe UI"/>
              </a:rPr>
              <a:t>Robot NW Connection Simulator  ·  July 2026 Progress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9224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6"/>
                </a:solidFill>
                <a:latin typeface="Segoe U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5BE0"/>
                </a:solidFill>
                <a:latin typeface="Segoe UI"/>
              </a:rPr>
              <a:t>JULY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E1B33"/>
                </a:solidFill>
                <a:latin typeface="Segoe UI"/>
              </a:rPr>
              <a:t>Per-flow QoS traffic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70432"/>
            <a:ext cx="100584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486"/>
                </a:solidFill>
                <a:latin typeface="Segoe UI"/>
              </a:rPr>
              <a:t>Replaced generic HTTP/VoIP mix with robot-realistic 3-flow model + DSCP marking.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4747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3474720" cy="109728"/>
          </a:xfrm>
          <a:prstGeom prst="rect">
            <a:avLst/>
          </a:prstGeom>
          <a:solidFill>
            <a:srgbClr val="F26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1B33"/>
                </a:solidFill>
                <a:latin typeface="Segoe UI"/>
              </a:rPr>
              <a:t>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6B4B"/>
                </a:solidFill>
                <a:latin typeface="Segoe UI"/>
              </a:rPr>
              <a:t>UDP · 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53A"/>
                </a:solidFill>
                <a:latin typeface="Segoe UI"/>
              </a:rPr>
              <a:t>~1 KB / 50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486"/>
                </a:solidFill>
                <a:latin typeface="Segoe UI"/>
              </a:rPr>
              <a:t>Target: ≤ 50 ms · 0% loss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74519"/>
            <a:ext cx="34747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74519"/>
            <a:ext cx="3474720" cy="109728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1488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1B33"/>
                </a:solidFill>
                <a:latin typeface="Segoe UI"/>
              </a:rPr>
              <a:t>Sensor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5603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5BE0"/>
                </a:solidFill>
                <a:latin typeface="Segoe UI"/>
              </a:rPr>
              <a:t>TCP · AF31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9718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53A"/>
                </a:solidFill>
                <a:latin typeface="Segoe UI"/>
              </a:rPr>
              <a:t>100 KB / 200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4747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486"/>
                </a:solidFill>
                <a:latin typeface="Segoe UI"/>
              </a:rPr>
              <a:t>Target: ≤ 200 ms · &lt; 5% 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874519"/>
            <a:ext cx="34747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874519"/>
            <a:ext cx="3474720" cy="10972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1488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1B33"/>
                </a:solidFill>
                <a:latin typeface="Segoe UI"/>
              </a:rPr>
              <a:t>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603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9D55"/>
                </a:solidFill>
                <a:latin typeface="Segoe UI"/>
              </a:rPr>
              <a:t>TCP · AF41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9718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53A"/>
                </a:solidFill>
                <a:latin typeface="Segoe UI"/>
              </a:rPr>
              <a:t>5 Mbps continuous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4747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486"/>
                </a:solidFill>
                <a:latin typeface="Segoe UI"/>
              </a:rPr>
              <a:t>Target: ≤ 500 ms · &lt; 10% loss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297680"/>
            <a:ext cx="107899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4805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1B33"/>
                </a:solidFill>
                <a:latin typeface="Segoe UI"/>
              </a:rPr>
              <a:t>Artifacts delivered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46320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B253A"/>
                </a:solidFill>
                <a:latin typeface="Segoe UI"/>
              </a:rPr>
              <a:t>• traffic_qos.cc — NS-3 scenario with 3-flow SetupApplications + Tos/DSCP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B253A"/>
                </a:solidFill>
                <a:latin typeface="Segoe UI"/>
              </a:rPr>
              <a:t>• flow_metrics.py — Control PDR, P99 latency, throughput share, PASS/CHECK vs targets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B253A"/>
                </a:solidFill>
                <a:latin typeface="Segoe UI"/>
              </a:rPr>
              <a:t>• CMakeLists.txt target traffic-qos  ·  sample NR runs at 5/10/15 STA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5A623"/>
                </a:solidFill>
                <a:latin typeface="Segoe UI"/>
              </a:rPr>
              <a:t>• traffic_qos_report.pdf — still pending (needs full 192-run matrix for proper report)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922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486"/>
                </a:solidFill>
                <a:latin typeface="Segoe UI"/>
              </a:rPr>
              <a:t>Robot NW Connection Simulator  ·  July 2026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9224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6"/>
                </a:solidFill>
                <a:latin typeface="Segoe U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5BE0"/>
                </a:solidFill>
                <a:latin typeface="Segoe UI"/>
              </a:rPr>
              <a:t>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E1B33"/>
                </a:solidFill>
                <a:latin typeface="Segoe UI"/>
              </a:rPr>
              <a:t>WiFi BSSID crash — root cause &amp;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70432"/>
            <a:ext cx="100584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2120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26B4B"/>
                </a:solidFill>
                <a:latin typeface="Segoe UI"/>
              </a:rPr>
              <a:t>What crashed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1B253A"/>
                </a:solidFill>
                <a:latin typeface="Segoe UI"/>
              </a:rPr>
              <a:t>NS_ASSERT in sta-wifi-mac.cc:1392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6B7486"/>
                </a:solidFill>
                <a:latin typeface="Segoe UI"/>
              </a:rPr>
              <a:t>GetLink(linkId).bssid == hdr.GetAddr3()</a:t>
            </a:r>
          </a:p>
          <a:p>
            <a:pPr algn="l"/>
            <a:r>
              <a:rPr sz="800" b="0" i="0">
                <a:solidFill>
                  <a:srgbClr val="1B253A"/>
                </a:solidFill>
                <a:latin typeface="Segoe U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1B253A"/>
                </a:solidFill>
                <a:latin typeface="Segoe UI"/>
              </a:rPr>
              <a:t>During multi-AP roaming (4 APs, same SSID MeshHotspot):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B253A"/>
                </a:solidFill>
                <a:latin typeface="Segoe UI"/>
              </a:rPr>
              <a:t>1. STA associates toward AP 0c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B253A"/>
                </a:solidFill>
                <a:latin typeface="Segoe UI"/>
              </a:rPr>
              <a:t>2. MissedBeacons → abandon → re-assoc to AP 0b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B253A"/>
                </a:solidFill>
                <a:latin typeface="Segoe UI"/>
              </a:rPr>
              <a:t>3. Delayed AssocResp from abandoned AP 0c arrives</a:t>
            </a:r>
          </a:p>
          <a:p>
            <a:pPr algn="l">
              <a:spcBef>
                <a:spcPts val="200"/>
              </a:spcBef>
            </a:pPr>
            <a:r>
              <a:rPr sz="1200" b="1" i="0">
                <a:solidFill>
                  <a:srgbClr val="F26B4B"/>
                </a:solidFill>
                <a:latin typeface="Segoe UI"/>
              </a:rPr>
              <a:t>4. Assert: stored BSSID=0b ≠ response BSSID=0c → abort</a:t>
            </a:r>
          </a:p>
          <a:p>
            <a:pPr algn="l"/>
            <a:r>
              <a:rPr sz="800" b="0" i="0">
                <a:solidFill>
                  <a:srgbClr val="1B253A"/>
                </a:solidFill>
                <a:latin typeface="Segoe U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200" b="0" i="1">
                <a:solidFill>
                  <a:srgbClr val="6B7486"/>
                </a:solidFill>
                <a:latin typeface="Segoe UI"/>
              </a:rPr>
              <a:t>Not a scenario bug — ns-3.45 over-strict invariant under heavy roaming.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5448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9D55"/>
                </a:solidFill>
                <a:latin typeface="Segoe UI"/>
              </a:rPr>
              <a:t>Fix &amp;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1B253A"/>
                </a:solidFill>
                <a:latin typeface="Segoe UI"/>
              </a:rPr>
              <a:t>Patch in ReceiveAssocResp: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B253A"/>
                </a:solidFill>
                <a:latin typeface="Segoe UI"/>
              </a:rPr>
              <a:t>Ignore AssocResp whose BSSID ≠ current link target.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B253A"/>
                </a:solidFill>
                <a:latin typeface="Segoe UI"/>
              </a:rPr>
              <a:t>Keep waiting for the AP we are currently associating with.</a:t>
            </a:r>
          </a:p>
          <a:p>
            <a:pPr algn="l"/>
            <a:r>
              <a:rPr sz="800" b="0" i="0">
                <a:solidFill>
                  <a:srgbClr val="1B253A"/>
                </a:solidFill>
                <a:latin typeface="Segoe UI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300" b="0" i="0">
                <a:solidFill>
                  <a:srgbClr val="F26B4B"/>
                </a:solidFill>
                <a:latin typeface="Segoe UI"/>
              </a:rPr>
              <a:t>Before (sweep): 4 / 9 runs crashed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1F9D55"/>
                </a:solidFill>
                <a:latin typeface="Segoe UI"/>
              </a:rPr>
              <a:t>After (sweep):  9 / 9 runs completed</a:t>
            </a:r>
          </a:p>
          <a:p>
            <a:pPr algn="l"/>
            <a:r>
              <a:rPr sz="800" b="0" i="0">
                <a:solidFill>
                  <a:srgbClr val="1B253A"/>
                </a:solidFill>
                <a:latin typeface="Segoe U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1B253A"/>
                </a:solidFill>
                <a:latin typeface="Segoe UI"/>
              </a:rPr>
              <a:t>Verified on previously-failing cases: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B253A"/>
                </a:solidFill>
                <a:latin typeface="Segoe UI"/>
              </a:rPr>
              <a:t>• seed 6 / STA 5  ·  seed 6 / STA 10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B253A"/>
                </a:solidFill>
                <a:latin typeface="Segoe UI"/>
              </a:rPr>
              <a:t>• seed 7 / STA 15 ·  seed 8 / STA 15</a:t>
            </a:r>
          </a:p>
          <a:p>
            <a:pPr algn="l">
              <a:spcBef>
                <a:spcPts val="600"/>
              </a:spcBef>
            </a:pPr>
            <a:r>
              <a:rPr sz="1200" b="1" i="0">
                <a:solidFill>
                  <a:srgbClr val="1B253A"/>
                </a:solidFill>
                <a:latin typeface="Segoe UI"/>
              </a:rPr>
              <a:t>All now finish full 60 s without NS_ASSERT.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922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486"/>
                </a:solidFill>
                <a:latin typeface="Segoe UI"/>
              </a:rPr>
              <a:t>Robot NW Connection Simulator  ·  July 2026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9224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6"/>
                </a:solidFill>
                <a:latin typeface="Segoe U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5BE0"/>
                </a:solidFill>
                <a:latin typeface="Segoe UI"/>
              </a:rPr>
              <a:t>SWITCH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E1B33"/>
                </a:solidFill>
                <a:latin typeface="Segoe UI"/>
              </a:rPr>
              <a:t>Path recovery logic — toward ~80% resolved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70432"/>
            <a:ext cx="100584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486"/>
                </a:solidFill>
                <a:latin typeface="Segoe UI"/>
              </a:rPr>
              <a:t>A switch was often marked timeout because recovery was measured on Sensor TCP (RTO/slow-start), not true path recovery. Return Cellular → WiFi was stranded by head-of-line pending events.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52120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6B4B"/>
                </a:solidFill>
                <a:latin typeface="Segoe UI"/>
              </a:rPr>
              <a:t>BEFORE  (seed 7 · 10 STA · NR)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1460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514600"/>
            <a:ext cx="63500" cy="1463040"/>
          </a:xfrm>
          <a:prstGeom prst="rect">
            <a:avLst/>
          </a:prstGeom>
          <a:solidFill>
            <a:srgbClr val="F26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79192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E1B33"/>
                </a:solidFill>
                <a:latin typeface="Segoe UI"/>
              </a:rPr>
              <a:t>57%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0040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486"/>
                </a:solidFill>
                <a:latin typeface="Segoe UI"/>
              </a:rPr>
              <a:t>resolved switches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51460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2514600"/>
            <a:ext cx="63500" cy="14630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679192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E1B33"/>
                </a:solidFill>
                <a:latin typeface="Segoe UI"/>
              </a:rPr>
              <a:t>20/47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20040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486"/>
                </a:solidFill>
                <a:latin typeface="Segoe UI"/>
              </a:rPr>
              <a:t>timeout events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965960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1031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9D55"/>
                </a:solidFill>
                <a:latin typeface="Segoe UI"/>
              </a:rPr>
              <a:t>AFTER A+B  (same seed / STA)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514600"/>
            <a:ext cx="22860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2514600"/>
            <a:ext cx="63500" cy="146304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79192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E1B33"/>
                </a:solidFill>
                <a:latin typeface="Segoe UI"/>
              </a:rPr>
              <a:t>87%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0040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486"/>
                </a:solidFill>
                <a:latin typeface="Segoe UI"/>
              </a:rPr>
              <a:t>resolved switches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2514600"/>
            <a:ext cx="22860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23960" y="2514600"/>
            <a:ext cx="63500" cy="146304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2679192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E1B33"/>
                </a:solidFill>
                <a:latin typeface="Segoe UI"/>
              </a:rPr>
              <a:t>2/47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20040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486"/>
                </a:solidFill>
                <a:latin typeface="Segoe UI"/>
              </a:rPr>
              <a:t>timeout events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526280"/>
            <a:ext cx="107899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6634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1B33"/>
                </a:solidFill>
                <a:latin typeface="Segoe UI"/>
              </a:rPr>
              <a:t>What changed (A + B)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98348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B253A"/>
                </a:solidFill>
                <a:latin typeface="Segoe UI"/>
              </a:rPr>
              <a:t>A. Control-UDP liveness — resolve switches on continuous 50 ms Control RX (true Cellular↔WiFi path recovery), not Sensor TCP RTO.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B253A"/>
                </a:solidFill>
                <a:latin typeface="Segoe UI"/>
              </a:rPr>
              <a:t>B. Head-of-line fix — stale pending switches retired as superseded when a newer path decision is made (no stranded FIFO).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6B7486"/>
                </a:solidFill>
                <a:latin typeface="Segoe UI"/>
              </a:rPr>
              <a:t>Full 9-run matrix aggregate: 73% resolved · 15% timeout · 12% superseded  (seed-dependent; see next slide).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922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486"/>
                </a:solidFill>
                <a:latin typeface="Segoe UI"/>
              </a:rPr>
              <a:t>Robot NW Connection Simulator  ·  July 2026 Progress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9224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6"/>
                </a:solidFill>
                <a:latin typeface="Segoe U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5BE0"/>
                </a:solidFill>
                <a:latin typeface="Segoe UI"/>
              </a:rPr>
              <a:t>EVALUATION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E1B33"/>
                </a:solidFill>
                <a:latin typeface="Segoe UI"/>
              </a:rPr>
              <a:t>How seeds &amp; STA counts differ (NR, 60 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70432"/>
            <a:ext cx="100584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71323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777240"/>
                <a:gridCol w="1097280"/>
                <a:gridCol w="1097280"/>
                <a:gridCol w="1005840"/>
                <a:gridCol w="1188720"/>
                <a:gridCol w="1188720"/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Seed</a:t>
                      </a:r>
                    </a:p>
                  </a:txBody>
                  <a:tcPr>
                    <a:solidFill>
                      <a:srgbClr val="162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STA</a:t>
                      </a:r>
                    </a:p>
                  </a:txBody>
                  <a:tcPr>
                    <a:solidFill>
                      <a:srgbClr val="162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Switches</a:t>
                      </a:r>
                    </a:p>
                  </a:txBody>
                  <a:tcPr>
                    <a:solidFill>
                      <a:srgbClr val="162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Resolved</a:t>
                      </a:r>
                    </a:p>
                  </a:txBody>
                  <a:tcPr>
                    <a:solidFill>
                      <a:srgbClr val="162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Timeout</a:t>
                      </a:r>
                    </a:p>
                  </a:txBody>
                  <a:tcPr>
                    <a:solidFill>
                      <a:srgbClr val="162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Timeout %</a:t>
                      </a:r>
                    </a:p>
                  </a:txBody>
                  <a:tcPr>
                    <a:solidFill>
                      <a:srgbClr val="162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Median ms</a:t>
                      </a:r>
                    </a:p>
                  </a:txBody>
                  <a:tcPr>
                    <a:solidFill>
                      <a:srgbClr val="162A5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253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253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60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42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13%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61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253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253A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17%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564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253A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253A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84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62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15%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63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253A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253A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60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10%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52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253A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B253A"/>
                          </a:solidFill>
                          <a:latin typeface="Segoe UI"/>
                        </a:rPr>
                        <a:t>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75320" y="1371600"/>
            <a:ext cx="33832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55448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1B33"/>
                </a:solidFill>
                <a:latin typeface="Segoe UI"/>
              </a:rPr>
              <a:t>Key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965960"/>
            <a:ext cx="3017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800"/>
              </a:spcBef>
            </a:pPr>
            <a:r>
              <a:rPr sz="1200" b="1" i="0">
                <a:solidFill>
                  <a:srgbClr val="1F9D55"/>
                </a:solidFill>
                <a:latin typeface="Segoe UI"/>
              </a:rPr>
              <a:t>Best case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B253A"/>
                </a:solidFill>
                <a:latin typeface="Segoe UI"/>
              </a:rPr>
              <a:t>seed 7 / STA 10 → 4% timeout, median 55 ms</a:t>
            </a:r>
          </a:p>
          <a:p>
            <a:pPr algn="l">
              <a:spcBef>
                <a:spcPts val="1200"/>
              </a:spcBef>
            </a:pPr>
            <a:r>
              <a:rPr sz="1200" b="1" i="0">
                <a:solidFill>
                  <a:srgbClr val="F26B4B"/>
                </a:solidFill>
                <a:latin typeface="Segoe UI"/>
              </a:rPr>
              <a:t>Worst cases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B253A"/>
                </a:solidFill>
                <a:latin typeface="Segoe UI"/>
              </a:rPr>
              <a:t>seed 6 / STA 5 → 25%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B253A"/>
                </a:solidFill>
                <a:latin typeface="Segoe UI"/>
              </a:rPr>
              <a:t>seed 8 / STA 15 → 23%</a:t>
            </a:r>
          </a:p>
          <a:p>
            <a:pPr algn="l">
              <a:spcBef>
                <a:spcPts val="1400"/>
              </a:spcBef>
            </a:pPr>
            <a:r>
              <a:rPr sz="1200" b="1" i="0">
                <a:solidFill>
                  <a:srgbClr val="2E5BE0"/>
                </a:solidFill>
                <a:latin typeface="Segoe UI"/>
              </a:rPr>
              <a:t>Takeaway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B253A"/>
                </a:solidFill>
                <a:latin typeface="Segoe UI"/>
              </a:rPr>
              <a:t>A single seed would have overstated reliability. Multi-seed + multi-STA is required for the report.</a:t>
            </a:r>
          </a:p>
          <a:p>
            <a:pPr algn="l">
              <a:spcBef>
                <a:spcPts val="1400"/>
              </a:spcBef>
            </a:pPr>
            <a:r>
              <a:rPr sz="1200" b="1" i="0">
                <a:solidFill>
                  <a:srgbClr val="0E1B33"/>
                </a:solidFill>
                <a:latin typeface="Segoe UI"/>
              </a:rPr>
              <a:t>Aggregate: 506 switches · 73% resolved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486"/>
                </a:solidFill>
                <a:latin typeface="Segoe UI"/>
              </a:rPr>
              <a:t>Robot NW Connection Simulator  ·  July 2026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9224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6"/>
                </a:solidFill>
                <a:latin typeface="Segoe U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5BE0"/>
                </a:solidFill>
                <a:latin typeface="Segoe UI"/>
              </a:rPr>
              <a:t>JULY PLAN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E1B33"/>
                </a:solidFill>
                <a:latin typeface="Segoe UI"/>
              </a:rPr>
              <a:t>Enhancement plan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70432"/>
            <a:ext cx="100584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1732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371600"/>
                <a:gridCol w="5577840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July item (plan)</a:t>
                      </a:r>
                    </a:p>
                  </a:txBody>
                  <a:tcPr>
                    <a:solidFill>
                      <a:srgbClr val="162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162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Evidence</a:t>
                      </a:r>
                    </a:p>
                  </a:txBody>
                  <a:tcPr>
                    <a:solidFill>
                      <a:srgbClr val="162A5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53A"/>
                          </a:solidFill>
                          <a:latin typeface="Segoe UI"/>
                        </a:rPr>
                        <a:t>traffic_qos.cc — 3-flow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53A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53A"/>
                          </a:solidFill>
                          <a:latin typeface="Segoe UI"/>
                        </a:rPr>
                        <a:t>Control/Sensor/Video + DSCP 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53A"/>
                          </a:solidFill>
                          <a:latin typeface="Segoe UI"/>
                        </a:rPr>
                        <a:t>flow_metrics.py — per-flow KPIs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53A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53A"/>
                          </a:solidFill>
                          <a:latin typeface="Segoe UI"/>
                        </a:rPr>
                        <a:t>PDR, P99, tput share, PASS/CHECK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53A"/>
                          </a:solidFill>
                          <a:latin typeface="Segoe UI"/>
                        </a:rPr>
                        <a:t>Control PDR &amp; P99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53A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53A"/>
                          </a:solidFill>
                          <a:latin typeface="Segoe UI"/>
                        </a:rPr>
                        <a:t>Scripts ready; needs full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53A"/>
                          </a:solidFill>
                          <a:latin typeface="Segoe UI"/>
                        </a:rPr>
                        <a:t>traffic_qos_report.pdf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53A"/>
                          </a:solidFill>
                          <a:latin typeface="Segoe UI"/>
                        </a:rPr>
                        <a:t>PENDING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53A"/>
                          </a:solidFill>
                          <a:latin typeface="Segoe UI"/>
                        </a:rPr>
                        <a:t>Requires 192-run campaign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53A"/>
                          </a:solidFill>
                          <a:latin typeface="Segoe UI"/>
                        </a:rPr>
                        <a:t>BSSID crash (blocker)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53A"/>
                          </a:solidFill>
                          <a:latin typeface="Segoe UI"/>
                        </a:rPr>
                        <a:t>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53A"/>
                          </a:solidFill>
                          <a:latin typeface="Segoe UI"/>
                        </a:rPr>
                        <a:t>9/9 sweep completes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53A"/>
                          </a:solidFill>
                          <a:latin typeface="Segoe UI"/>
                        </a:rPr>
                        <a:t>Switch recovery (A+B)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53A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53A"/>
                          </a:solidFill>
                          <a:latin typeface="Segoe UI"/>
                        </a:rPr>
                        <a:t>57% → 87% on seed7/STA10</a:t>
                      </a:r>
                    </a:p>
                  </a:txBody>
                  <a:tcPr>
                    <a:solidFill>
                      <a:srgbClr val="E9F0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" y="4937760"/>
            <a:ext cx="10789920" cy="1143000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A52"/>
                </a:solidFill>
                <a:latin typeface="Segoe UI"/>
              </a:rPr>
              <a:t>July alignment verdict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53A"/>
                </a:solidFill>
                <a:latin typeface="Segoe UI"/>
              </a:rPr>
              <a:t>Core July implementation is in place (code + measurement). The formal analysis report is the remaining gap — blocked only by scale of evaluation, not by missing software units.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486"/>
                </a:solidFill>
                <a:latin typeface="Segoe UI"/>
              </a:rPr>
              <a:t>Robot NW Connection Simulator  ·  July 2026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9224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6"/>
                </a:solidFill>
                <a:latin typeface="Segoe U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5BE0"/>
                </a:solidFill>
                <a:latin typeface="Segoe UI"/>
              </a:rP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E1B33"/>
                </a:solidFill>
                <a:latin typeface="Segoe UI"/>
              </a:rPr>
              <a:t>192-run campaign for a proper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70432"/>
            <a:ext cx="100584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486"/>
                </a:solidFill>
                <a:latin typeface="Segoe UI"/>
              </a:rPr>
              <a:t>The enhancement plan’s comparison matrix is 192 scenarios. A proper traffic_qos_report.pdf needs that full campaign — not single-seed anecdotes.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4747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3474720" cy="9144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1B33"/>
                </a:solidFill>
                <a:latin typeface="Segoe UI"/>
              </a:rPr>
              <a:t>What 192 covers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53A"/>
                </a:solidFill>
                <a:latin typeface="Segoe UI"/>
              </a:rPr>
              <a:t>•  Cellular mode: LTE vs NR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9923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53A"/>
                </a:solidFill>
                <a:latin typeface="Segoe UI"/>
              </a:rPr>
              <a:t>•  STA counts: 5 / 10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4670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53A"/>
                </a:solidFill>
                <a:latin typeface="Segoe UI"/>
              </a:rPr>
              <a:t>•  Seeds: 6 / 7 / 8 (× more later)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9417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53A"/>
                </a:solidFill>
                <a:latin typeface="Segoe UI"/>
              </a:rPr>
              <a:t>•  Mobility: waypoint +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4164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53A"/>
                </a:solidFill>
                <a:latin typeface="Segoe UI"/>
              </a:rPr>
              <a:t>•  Traffic: Control/Sensor/Video QoS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891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53A"/>
                </a:solidFill>
                <a:latin typeface="Segoe UI"/>
              </a:rPr>
              <a:t>•  Enable/disable switching baselines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965960"/>
            <a:ext cx="34747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965960"/>
            <a:ext cx="3474720" cy="9144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1945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1B33"/>
                </a:solidFill>
                <a:latin typeface="Segoe UI"/>
              </a:rPr>
              <a:t>Automation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6517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53A"/>
                </a:solidFill>
                <a:latin typeface="Segoe UI"/>
              </a:rPr>
              <a:t>•  run_seeds / sweep 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99923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53A"/>
                </a:solidFill>
                <a:latin typeface="Segoe UI"/>
              </a:rPr>
              <a:t>•  Parallel batch 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34670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53A"/>
                </a:solidFill>
                <a:latin typeface="Segoe UI"/>
              </a:rPr>
              <a:t>•  Per-run FlowMonitor + switch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69417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53A"/>
                </a:solidFill>
                <a:latin typeface="Segoe UI"/>
              </a:rPr>
              <a:t>•  flow_metrics.py aggregation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04164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53A"/>
                </a:solidFill>
                <a:latin typeface="Segoe UI"/>
              </a:rPr>
              <a:t>•  Bootstrap CI + Mann-Whitney later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3891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53A"/>
                </a:solidFill>
                <a:latin typeface="Segoe UI"/>
              </a:rPr>
              <a:t>•  Markdown → PDF report pipeline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1965960"/>
            <a:ext cx="34747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1965960"/>
            <a:ext cx="3474720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1945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1B33"/>
                </a:solidFill>
                <a:latin typeface="Segoe UI"/>
              </a:rPr>
              <a:t>Report outputs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6517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53A"/>
                </a:solidFill>
                <a:latin typeface="Segoe UI"/>
              </a:rPr>
              <a:t>•  Control PDR &amp; P99 tables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99923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53A"/>
                </a:solidFill>
                <a:latin typeface="Segoe UI"/>
              </a:rPr>
              <a:t>•  Per-flow throughput share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34670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53A"/>
                </a:solidFill>
                <a:latin typeface="Segoe UI"/>
              </a:rPr>
              <a:t>•  Switch timeout / interruption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69417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53A"/>
                </a:solidFill>
                <a:latin typeface="Segoe UI"/>
              </a:rPr>
              <a:t>•  LTE vs NR comparison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04164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53A"/>
                </a:solidFill>
                <a:latin typeface="Segoe UI"/>
              </a:rPr>
              <a:t>•  Seed-averaged KPIs ± 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3891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53A"/>
                </a:solidFill>
                <a:latin typeface="Segoe UI"/>
              </a:rPr>
              <a:t>•  traffic_qos_report.pdf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44068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16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Goal: execute the 192-run matrix → aggregate KPIs → publish traffic_qos_report.pdf as the July analysis deliverable (then expand toward 10-seed / 640 for Sep statistics).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4922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486"/>
                </a:solidFill>
                <a:latin typeface="Segoe UI"/>
              </a:rPr>
              <a:t>Robot NW Connection Simulator  ·  July 2026 Progress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9224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6"/>
                </a:solidFill>
                <a:latin typeface="Segoe U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