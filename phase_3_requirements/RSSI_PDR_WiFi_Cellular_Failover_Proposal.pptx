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morning, and thank you for the time. I want to introduce a technology that solves a specific but fast-growing problem: keeping a whole team of construction robots reliably connected, all the time, without anyone touching the network. It's an automatic WiFi-mesh-to-cellular failover system that keeps robots coordinated under a 200-millisecond budget. I'll cover the idea, how it works, and where it's headed.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path: the problem, our solution and the core technology, the architecture, how a handover works, what sets us apart, what we've validated, the market and business model, and the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Construction sites increasingly run teams of robots that must act as one coordinated system, and that needs near-real-time sync under 200 milliseconds. No single network delivers that: a WiFi mesh is fast and cheap but fades behind concrete; cellular covers the whole site but is slower and costly to lean on. And when a link drops, the fleet loses coordination, sessions die, and safety-critical work stops. Our insight: use WiFi where it's strong, cellular where it isn't, and switch fast enough that the robot never notices.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 we built a network that switches itself. Each robot keeps one continuous identity, and a hybrid controller decides which link carries its traffic. That gives four things: always connected, seamless failover with the session intact, per-robot assurance against the latency target, and it's technology-neutral across LTE or 5G. We deliver it as an embedded gateway module plus an operator-facing assurance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engine. The controller rechecks every robot twice a second, on four principles. First, dual-signal fusion — it blends smoothed RSSI with a one-second packet-delivery ratio, so a momentary dip alone never triggers a switch. Second, hysteresis — the return threshold sits 3 dB above the leave threshold and must hold for two checks, so it never oscillates. Third, a staleness guard — no WiFi frame for three seconds forces failover. And fourth, make-before-break routing, so a live TCP session survives.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trick is one service IP over two paths — a four-node 802.11s mesh and a single LTE or 5G cell. Because both paths lead to the same destination address, a handover is just a routing change, not a reconnection — which is why sessions survive. And one building-aware propagation model runs across all links, so the comparison is like-for-like.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cycle the controller does four things: sense, decide, act, and record the switch with its interruption. The rules are deliberately asymmetric — easy to leave WiFi, hard to return — so it favors the preferred link without ever flapping.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things set us apart. One — joint, environment-tuned switching on both signal and delivery, validated on real access-point hardware. Two — a measurable latency guarantee: a quantified per-switch interruption against a 200-millisecond budget, the number a robotics customer actually cares about. Three — a genuine head-to-head of LTE versus 5G, which almost no public study offers here. And four — it's session-preserving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isn't just a concept. Phase 1 is complete: a full NS-3 comparison of WiFi-plus-LTE against WiFi-plus-5G across multiple seeds and node counts. The controller is validated, and we scaled to twenty mobile robots that all switched automatically in both directions — every client under 200 milliseconds, with reliable return to WiFi. Honest caveat: no hardware field test yet, and more simulation is planned.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sit at the intersection of two fast-growing markets. Construction robotics heads toward fifteen billion dollars by 2030, and private 5G toward a hundred and fifty billion by 2033. The driver is real: the US alone needed roughly 546,000 more construction workers in 2023, with the same shortage in Germany, Japan, and Korea. We monetize three ways — IP licensing, a recurring assurance subscription, and one-time integration fees.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foundation is done. We're now in enhanced simulation: realistic waypoint mobility, QoS traffic, mesh handover modeling, and more statistical rigor. Then lab validation on a hardware testbed, then a field trial on a live site. Commercially, over one to three years: file the IP, license the controller, and layer the assurance service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sum up — the point is keeping robot fleets connected without anyone noticing the switch. We fuse two signals with hysteresis, preserve live sessions through make-before-break, hit the sub-200-millisecond target with up to twenty robots, and did the rare direct LTE-versus-5G comparison. Phase 1 is validated and the path to market is clear. Thank you — I'd be glad to take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0"/>
            <a:ext cx="50800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235440" y="914400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02367" y="914400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69296" y="914400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936224" y="914400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35440" y="1481328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802367" y="1481328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69296" y="1481328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36224" y="1481328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2048256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02367" y="2048256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369296" y="2048256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36224" y="2048256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235440" y="2615184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802367" y="2615184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369296" y="2615184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936224" y="2615184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3182112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02367" y="3182112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69296" y="3182112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36224" y="3182112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3749039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802367" y="3749039"/>
            <a:ext cx="76200" cy="76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69296" y="3749039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36224" y="3749039"/>
            <a:ext cx="76200" cy="76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1234440"/>
            <a:ext cx="7589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0">
                <a:solidFill>
                  <a:srgbClr val="F5A623"/>
                </a:solidFill>
                <a:latin typeface="Segoe UI"/>
              </a:rPr>
              <a:t>IDEA &amp; TECHNOLOGY PROPOSAL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" y="1691640"/>
            <a:ext cx="822960" cy="3810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2148840"/>
            <a:ext cx="76809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Automatic WiFi Mesh–Cellular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Failover for Robot Fleets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" y="379476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B9C4DA"/>
                </a:solidFill>
                <a:latin typeface="Segoe UI"/>
              </a:rPr>
              <a:t>RSSI/PDR-fused, session-preserving handover that keeps multi-robot
construction fleets connected below a 200 ms coordination budget.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5074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23036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5A623"/>
                </a:solidFill>
                <a:latin typeface="Segoe UI"/>
              </a:rPr>
              <a:t>&lt; 200 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" y="565099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B9C4DA"/>
                </a:solidFill>
                <a:latin typeface="Segoe UI"/>
              </a:rPr>
              <a:t>sync budget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15768" y="5074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5768" y="523036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5A623"/>
                </a:solidFill>
                <a:latin typeface="Segoe UI"/>
              </a:rPr>
              <a:t>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15768" y="565099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B9C4DA"/>
                </a:solidFill>
                <a:latin typeface="Segoe UI"/>
              </a:rPr>
              <a:t>robots scaled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90288" y="5074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90288" y="523036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5A623"/>
                </a:solidFill>
                <a:latin typeface="Segoe UI"/>
              </a:rPr>
              <a:t>LTE &amp; 5G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90288" y="565099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B9C4DA"/>
                </a:solidFill>
                <a:latin typeface="Segoe UI"/>
              </a:rPr>
              <a:t>dual fallback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64807" y="5074920"/>
            <a:ext cx="1691640" cy="96012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4807" y="5230368"/>
            <a:ext cx="1691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900" b="1" i="0">
                <a:solidFill>
                  <a:srgbClr val="F5A623"/>
                </a:solidFill>
                <a:latin typeface="Segoe UI"/>
              </a:rPr>
              <a:t>802.11s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64807" y="5650992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B9C4DA"/>
                </a:solidFill>
                <a:latin typeface="Segoe UI"/>
              </a:rPr>
              <a:t>WiFi mesh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62636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PIC Lab · Kyushu Institute of Technology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0800" cy="132588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947672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4414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The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75234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Why one network isn't enough on a jobsite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83080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783080"/>
            <a:ext cx="50800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90872" y="1947672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4414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75234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A self-switching hybrid network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783080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783080"/>
            <a:ext cx="50800" cy="132588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2" y="1947672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24414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Core Technology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2752344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RSSI/PDR fusion &amp; make-before-break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273552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273552"/>
            <a:ext cx="50800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438144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" y="3931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242816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One service IP over two paths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273552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273552"/>
            <a:ext cx="50800" cy="132588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3438144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3931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Handover Logic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4242816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Sense · Decide · Act · Record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80" y="3273552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80" y="3273552"/>
            <a:ext cx="50800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912" y="3438144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912" y="393192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Differentiators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2" y="4242816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What sets this apart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764024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4764024"/>
            <a:ext cx="50800" cy="132588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1832" y="4928616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" y="573328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What Phase 1 has proven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434840" y="4764024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434840" y="4764024"/>
            <a:ext cx="50800" cy="1325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90872" y="4928616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90872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Market &amp; 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90872" y="573328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Opportunity and revenue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83880" y="4764024"/>
            <a:ext cx="361188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83880" y="4764024"/>
            <a:ext cx="50800" cy="132588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39912" y="4928616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E9F0FF"/>
                </a:solidFill>
                <a:latin typeface="Segoe UI Light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39912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Roadmap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9912" y="5733288"/>
            <a:ext cx="32004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Simulation to commercialization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01 ·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No single network keeps a fleet coordinated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B253A"/>
                </a:solidFill>
                <a:latin typeface="Segoe UI"/>
              </a:rPr>
              <a:t>Construction sites now run teams of robots that must act as one coordinated system — demanding near-real-time sync under 200 ms. Neither on-site network delivers that alone.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2316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42316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743200"/>
            <a:ext cx="2697480" cy="18288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87168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spc="150">
                <a:solidFill>
                  <a:srgbClr val="FFFFFF"/>
                </a:solidFill>
                <a:latin typeface="Segoe UI"/>
              </a:rPr>
              <a:t>WiFi MESH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Fast &amp; cheap to deploy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…but fades fast behind concrete and steel.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423160"/>
            <a:ext cx="26974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2423160"/>
            <a:ext cx="2697480" cy="50292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566160" y="2743200"/>
            <a:ext cx="2697480" cy="18288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487168"/>
            <a:ext cx="269748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 spc="150">
                <a:solidFill>
                  <a:srgbClr val="FFFFFF"/>
                </a:solidFill>
                <a:latin typeface="Segoe UI"/>
              </a:rPr>
              <a:t>CELLULAR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108960"/>
            <a:ext cx="2240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Covers the whole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657600"/>
            <a:ext cx="22402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…but slower and costly to rely on continuously.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108960"/>
            <a:ext cx="4572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6B7486"/>
                </a:solidFill>
                <a:latin typeface="Segoe UI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2423160"/>
            <a:ext cx="4937760" cy="214884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265176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162A52"/>
                </a:solidFill>
                <a:latin typeface="Segoe UI"/>
              </a:rPr>
              <a:t>WITHOUT SEAMLESS SWITCHING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3163824"/>
            <a:ext cx="88900" cy="88900"/>
          </a:xfrm>
          <a:prstGeom prst="roundRect">
            <a:avLst>
              <a:gd name="adj" fmla="val 6000"/>
            </a:avLst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31089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A"/>
                </a:solidFill>
                <a:latin typeface="Segoe UI"/>
              </a:rPr>
              <a:t>Fleet loses coordination mid-task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3529584"/>
            <a:ext cx="88900" cy="88900"/>
          </a:xfrm>
          <a:prstGeom prst="roundRect">
            <a:avLst>
              <a:gd name="adj" fmla="val 6000"/>
            </a:avLst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347472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A"/>
                </a:solidFill>
                <a:latin typeface="Segoe UI"/>
              </a:rPr>
              <a:t>Active TCP sessions drop, forcing full retries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3895344"/>
            <a:ext cx="88900" cy="88900"/>
          </a:xfrm>
          <a:prstGeom prst="roundRect">
            <a:avLst>
              <a:gd name="adj" fmla="val 6000"/>
            </a:avLst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384048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A"/>
                </a:solidFill>
                <a:latin typeface="Segoe UI"/>
              </a:rPr>
              <a:t>Manual network reconfiguration needed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0" y="4261104"/>
            <a:ext cx="88900" cy="88900"/>
          </a:xfrm>
          <a:prstGeom prst="roundRect">
            <a:avLst>
              <a:gd name="adj" fmla="val 6000"/>
            </a:avLst>
          </a:prstGeom>
          <a:solidFill>
            <a:srgbClr val="F26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86600" y="420624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1B253A"/>
                </a:solidFill>
                <a:latin typeface="Segoe UI"/>
              </a:rPr>
              <a:t>Safety-critical operations interrupted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4892040"/>
            <a:ext cx="10817352" cy="1234440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5800" y="4892040"/>
            <a:ext cx="50800" cy="1234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1023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200">
                <a:solidFill>
                  <a:srgbClr val="F5A623"/>
                </a:solidFill>
                <a:latin typeface="Segoe UI"/>
              </a:rPr>
              <a:t>THE INSIGHT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5394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Use WiFi where it's strong, cellular where it isn't — and switch fast enough that
the robot never notices. That fusion beats either technology on its 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02 · 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A network that switches itself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1B253A"/>
                </a:solidFill>
                <a:latin typeface="Segoe UI"/>
              </a:rPr>
              <a:t>Each robot keeps one continuous identity; a hybrid controller silently decides which link carries its traffic.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265176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" y="25146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5BE0"/>
                </a:solidFill>
                <a:latin typeface="Segoe UI"/>
              </a:rPr>
              <a:t>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3375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Always connected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One stable network identity per robot — the system picks the link, never the operator.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2240280"/>
            <a:ext cx="265176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721608" y="25146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21608" y="25603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5BE0"/>
                </a:solidFill>
                <a:latin typeface="Segoe UI"/>
              </a:rPr>
              <a:t>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1608" y="33375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Seamless failover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21608" y="3749039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Traffic slides to cellular as WiFi fades and back as it recovers — session intact.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2240280"/>
            <a:ext cx="265176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83096" y="25146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3096" y="25603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5BE0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3096" y="33375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Per-robot assurance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3749039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Every switch is measured and logged against the 200 ms target, per robot.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0264" y="2240280"/>
            <a:ext cx="2651760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44584" y="2514600"/>
            <a:ext cx="640080" cy="640080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44584" y="2560320"/>
            <a:ext cx="640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2E5BE0"/>
                </a:solidFill>
                <a:latin typeface="Segoe UI"/>
              </a:rPr>
              <a:t>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4584" y="33375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Technology-neutral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44584" y="3749039"/>
            <a:ext cx="21488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6B7486"/>
                </a:solidFill>
                <a:latin typeface="Segoe UI"/>
              </a:rPr>
              <a:t>The identical controller runs over LTE or 5G NR — no redesign per site.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212080"/>
            <a:ext cx="10817352" cy="91440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39496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80">
                <a:solidFill>
                  <a:srgbClr val="F5A623"/>
                </a:solidFill>
                <a:latin typeface="Segoe UI"/>
              </a:rPr>
              <a:t>DELIVERED 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650992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①  Embedded switching module inside the robot's existing network 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5650992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FFFFFF"/>
                </a:solidFill>
                <a:latin typeface="Segoe UI"/>
              </a:rPr>
              <a:t>②  Operator-facing connectivity-assurance layer for fleet-wide reliability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03 · CORE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How the controller decides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6B7486"/>
                </a:solidFill>
                <a:latin typeface="Segoe UI"/>
              </a:rPr>
              <a:t>A hybrid path controller re-evaluates every robot every 0.5 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5740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057400"/>
            <a:ext cx="109728" cy="91440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16712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Dual-signal fusion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487168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Blends EWMA-smoothed RSSI with a 1 s sliding-window PDR — so a momentary radio dip alone never triggers a switch.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0896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108960"/>
            <a:ext cx="109728" cy="914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1868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Hysteresis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538728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Return-to-WiFi threshold sits 3 dB above the leave threshold and must hold for 2 checks — no oscillation at the 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60520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160520"/>
            <a:ext cx="109728" cy="91440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70248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Staleness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590288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If no WiFi frame is heard for &gt; 3 s, failover fires anyway — catching slow fades the thresholds would miss.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12079"/>
            <a:ext cx="5852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5212079"/>
            <a:ext cx="109728" cy="914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321807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Make-before-break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5641847"/>
            <a:ext cx="5440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The new route is installed before the old one is dropped, so an active TCP session survives the handover.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0" y="1600200"/>
            <a:ext cx="4645152" cy="4663440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0" y="1874519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00">
                <a:solidFill>
                  <a:srgbClr val="F5A623"/>
                </a:solidFill>
                <a:latin typeface="Segoe UI"/>
              </a:rPr>
              <a:t>TUNED PARAMETERS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2331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RSSI trigger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233172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−80 dBm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2752344"/>
            <a:ext cx="3913632" cy="9525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23760" y="284378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Hysteresis gap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84378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+3 dB → −77 dBm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3264408"/>
            <a:ext cx="3913632" cy="9525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23760" y="3355848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PDR floor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3355848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0.90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3776472"/>
            <a:ext cx="3913632" cy="9525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867912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Return checks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3867912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2 consecutive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23760" y="4288536"/>
            <a:ext cx="3913632" cy="9525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0" y="4379976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Staleness timeout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4379976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3 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800600"/>
            <a:ext cx="3913632" cy="9525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48920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Eval interval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4892040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0.5 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60" y="5312664"/>
            <a:ext cx="3913632" cy="9525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23760" y="540410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C7D1E6"/>
                </a:solidFill>
                <a:latin typeface="Segoe UI"/>
              </a:rPr>
              <a:t>Interruption goal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09760" y="5404104"/>
            <a:ext cx="1600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&lt; 200 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04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One service IP, two paths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6720840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32798"/>
            <a:ext cx="6355080" cy="375252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80960" y="1600200"/>
            <a:ext cx="3822191" cy="4617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0" y="1600200"/>
            <a:ext cx="3822191" cy="548640"/>
          </a:xfrm>
          <a:prstGeom prst="roundRect">
            <a:avLst>
              <a:gd name="adj" fmla="val 6000"/>
            </a:avLst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80960" y="1920240"/>
            <a:ext cx="3822191" cy="228600"/>
          </a:xfrm>
          <a:prstGeom prst="rect">
            <a:avLst/>
          </a:prstGeom>
          <a:solidFill>
            <a:srgbClr val="16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17099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80">
                <a:solidFill>
                  <a:srgbClr val="F5A623"/>
                </a:solidFill>
                <a:latin typeface="Segoe UI"/>
              </a:rPr>
              <a:t>AT A GLANCE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423160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350008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4-node 802.11s mesh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633472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Dual-band APs (5 GHz ac + 2.4 GHz n), one SSID for roaming.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3182112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3108960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Single macro cell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3392424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LTE 2.0 GHz or 5G NR 3.5 GHz at site center.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941064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3867912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Shared service 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151376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Both paths reach the same address — handover is a routing change, not a reconnect.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4700016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47888" y="4626864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Building-aware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910328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One propagation model across WiFi, LTE &amp; 5G — like-for-like.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5458968"/>
            <a:ext cx="101600" cy="1016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5385816"/>
            <a:ext cx="3108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400 × 400 m site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5669280"/>
            <a:ext cx="31089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7 fixed concrete buildings, 30 m tall field.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05 · HANDOVER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Sense → Decide → Act → Record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5800" y="1572768"/>
            <a:ext cx="502920" cy="86868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73736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07592" y="16916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100">
                <a:solidFill>
                  <a:srgbClr val="0E1B33"/>
                </a:solidFill>
                <a:latin typeface="Segoe UI"/>
              </a:rPr>
              <a:t>SENSE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7592" y="1984248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B7486"/>
                </a:solidFill>
                <a:latin typeface="Segoe UI"/>
              </a:rPr>
              <a:t>RSSI, PDR &amp; time since last frame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1664208"/>
            <a:ext cx="274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1572768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47288" y="1572768"/>
            <a:ext cx="502920" cy="86868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173736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9080" y="16916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100">
                <a:solidFill>
                  <a:srgbClr val="0E1B33"/>
                </a:solidFill>
                <a:latin typeface="Segoe UI"/>
              </a:rPr>
              <a:t>DECIDE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69080" y="1984248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B7486"/>
                </a:solidFill>
                <a:latin typeface="Segoe UI"/>
              </a:rPr>
              <a:t>Thresholds + hysteresis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25896" y="1664208"/>
            <a:ext cx="274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1572768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08776" y="1572768"/>
            <a:ext cx="502920" cy="86868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08776" y="173736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16916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100">
                <a:solidFill>
                  <a:srgbClr val="0E1B33"/>
                </a:solidFill>
                <a:latin typeface="Segoe UI"/>
              </a:rPr>
              <a:t>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1984248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B7486"/>
                </a:solidFill>
                <a:latin typeface="Segoe UI"/>
              </a:rPr>
              <a:t>Make-before-break reroute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7384" y="1664208"/>
            <a:ext cx="274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5A623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70264" y="1572768"/>
            <a:ext cx="256032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970264" y="1572768"/>
            <a:ext cx="502920" cy="86868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70264" y="1737360"/>
            <a:ext cx="5029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1691640"/>
            <a:ext cx="1828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 spc="100">
                <a:solidFill>
                  <a:srgbClr val="0E1B33"/>
                </a:solidFill>
                <a:latin typeface="Segoe UI"/>
              </a:rPr>
              <a:t>RECORD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92056" y="1984248"/>
            <a:ext cx="18745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0">
                <a:solidFill>
                  <a:srgbClr val="6B7486"/>
                </a:solidFill>
                <a:latin typeface="Segoe UI"/>
              </a:rPr>
              <a:t>Log switch &amp; measure gap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2697480"/>
            <a:ext cx="50749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2E5BE0"/>
                </a:solidFill>
                <a:latin typeface="Segoe UI"/>
              </a:rPr>
              <a:t>TWO-STATE CONTROLLER</a:t>
            </a:r>
          </a:p>
        </p:txBody>
      </p:sp>
      <p:pic>
        <p:nvPicPr>
          <p:cNvPr id="33" name="Picture 32" descr="switching_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436986"/>
            <a:ext cx="4709160" cy="2361468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5989320" y="2697480"/>
            <a:ext cx="5513832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28346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2E5BE0"/>
                </a:solidFill>
                <a:latin typeface="Segoe UI"/>
              </a:rPr>
              <a:t>DECISION RULES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3200400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27355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53A"/>
                </a:solidFill>
                <a:latin typeface="Segoe UI"/>
              </a:rPr>
              <a:t>RSSI &lt; −80 dBm and PDR &lt; 0.90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3273552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B4B"/>
                </a:solidFill>
                <a:latin typeface="Segoe UI"/>
              </a:rPr>
              <a:t>→ Cellular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3931920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46520" y="400507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53A"/>
                </a:solidFill>
                <a:latin typeface="Segoe UI"/>
              </a:rPr>
              <a:t>No WiFi frame for 3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5480" y="4005072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26B4B"/>
                </a:solidFill>
                <a:latin typeface="Segoe UI"/>
              </a:rPr>
              <a:t>→ Cellular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63640" y="4663440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73659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53A"/>
                </a:solidFill>
                <a:latin typeface="Segoe UI"/>
              </a:rPr>
              <a:t>RSSI &gt; −77 dBm for 2 checks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55480" y="4736592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9D55"/>
                </a:solidFill>
                <a:latin typeface="Segoe UI"/>
              </a:rPr>
              <a:t>→ WiFi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63640" y="5394960"/>
            <a:ext cx="4965192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46520" y="5468112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B253A"/>
                </a:solidFill>
                <a:latin typeface="Segoe UI"/>
              </a:rPr>
              <a:t>Signal hovering at the edge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55480" y="5468112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6B7486"/>
                </a:solidFill>
                <a:latin typeface="Segoe UI"/>
              </a:rPr>
              <a:t>Hold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63640" y="587044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6B7486"/>
                </a:solidFill>
                <a:latin typeface="Segoe UI"/>
              </a:rPr>
              <a:t>Asymmetric by design: easy to leave WiFi, hard to return — biased toward the preferred link.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06 · 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Why this stands apart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5840" y="214884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212140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Joint, environment-tuned switching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8036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Reasons over signal AND delivery, with hysteresis tuned to real propagation — validated on real AP profiles (TP-Link EAP225, Netgear Orbi 960, ASUS ZenWiFi XT8), not idealized radios.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214884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19456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12140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A measurable latency guarantee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88036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Reports a quantified per-switch interruption against a &lt; 200 ms budget — the number a robotics customer actually needs, not just aggregate throughput.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6908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005840" y="43891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3484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20" y="436168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Head-to-head LTE vs. 5G NR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12064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Evaluates both cellular technologies in the same fallback role and topology — a direct comparison few public studies offer for construction robotics.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069080"/>
            <a:ext cx="53035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4389120"/>
            <a:ext cx="685800" cy="6858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434840"/>
            <a:ext cx="685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361688"/>
            <a:ext cx="3931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E1B33"/>
                </a:solidFill>
                <a:latin typeface="Segoe UI"/>
              </a:rPr>
              <a:t>Session-preserving by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120640"/>
            <a:ext cx="4709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6B7486"/>
                </a:solidFill>
                <a:latin typeface="Segoe UI"/>
              </a:rPr>
              <a:t>Make-before-break routing keeps live TCP sessions alive, holding interruption in the millisecond range instead of a socket-timeout retry.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07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What Phase 1 has proven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0817352" cy="777240"/>
          </a:xfrm>
          <a:prstGeom prst="roundRect">
            <a:avLst>
              <a:gd name="adj" fmla="val 6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50800" cy="77724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373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50">
                <a:solidFill>
                  <a:srgbClr val="1F9D55"/>
                </a:solidFill>
                <a:latin typeface="Segoe UI"/>
              </a:rPr>
              <a:t>PHASE 1 · COMPLETE (MAR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9933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FFFFFF"/>
                </a:solidFill>
                <a:latin typeface="Segoe UI"/>
              </a:rPr>
              <a:t>NS-3 comparison of WiFi Mesh + LTE vs. WiFi Mesh + 5G NR across multiple seeds and node counts.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0604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41832" y="286207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8803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7048" y="28620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Controller validated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3832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RSSI/PDR hybrid controller implemented and verified in NS-3.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5112" y="260604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81144" y="286207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28803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8620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Measurement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9432" y="33832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Per-switch interruption, RSSI time-series &amp; PDR windows logged to CSV.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64424" y="260604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0456" y="286207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0456" y="28803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28620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Scaled to 20 robots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38744" y="33832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All mobile clients switched automatically in both directions.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420624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1832" y="446227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" y="44805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7048" y="44622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Latency target met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9834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Every client held &lt; 200 ms end-to-end across all runs.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25112" y="420624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81144" y="446227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81144" y="44805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44622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Reliable return path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2" y="49834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Cellular → WiFi recovery confirmed, not just outbound failover.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64424" y="4206240"/>
            <a:ext cx="347472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20456" y="4462272"/>
            <a:ext cx="45720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0456" y="448056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05672" y="4462272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350" b="1" i="0">
                <a:solidFill>
                  <a:srgbClr val="0E1B33"/>
                </a:solidFill>
                <a:latin typeface="Segoe UI"/>
              </a:rPr>
              <a:t>Real hardware profiles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8744" y="4983480"/>
            <a:ext cx="2971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Tuned against TP-Link, Netgear &amp; ASUS AP characteristics.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F26B4B"/>
                </a:solidFill>
                <a:latin typeface="Segoe UI"/>
              </a:rPr>
              <a:t>Not yet field-tested on hardware. Further simulation runs planned to strengthen the statistical basis.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08 · MARKET &amp;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A large, fast-growing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5852160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arket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743215"/>
            <a:ext cx="5486400" cy="250289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4526280"/>
            <a:ext cx="58521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4526280"/>
            <a:ext cx="91440" cy="731520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177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1B33"/>
                </a:solidFill>
                <a:latin typeface="Segoe UI"/>
              </a:rPr>
              <a:t>Construction robotics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92861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$15.39B by 2030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4727448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2E5BE0"/>
                </a:solidFill>
                <a:latin typeface="Segoe UI"/>
              </a:rPr>
              <a:t>~18.6% CAGR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5367528"/>
            <a:ext cx="58521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5367528"/>
            <a:ext cx="91440" cy="7315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58968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E1B33"/>
                </a:solidFill>
                <a:latin typeface="Segoe UI"/>
              </a:rPr>
              <a:t>Private 5G networks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769864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6B7486"/>
                </a:solidFill>
                <a:latin typeface="Segoe UI"/>
              </a:rPr>
              <a:t>$150.66B by 2033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5568696"/>
            <a:ext cx="1965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1" i="0">
                <a:solidFill>
                  <a:srgbClr val="F5A623"/>
                </a:solidFill>
                <a:latin typeface="Segoe UI"/>
              </a:rPr>
              <a:t>~58.9% CAGR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16002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50">
                <a:solidFill>
                  <a:srgbClr val="2E5BE0"/>
                </a:solidFill>
                <a:latin typeface="Segoe UI"/>
              </a:rPr>
              <a:t>THREE REVENUE STREAMS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2011680"/>
            <a:ext cx="46451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0" y="2011680"/>
            <a:ext cx="50800" cy="914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0" y="212140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IP licensing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45059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Per-unit royalty / annual fee to robot &amp; gateway makers.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378440" y="2304288"/>
            <a:ext cx="960120" cy="329184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78440" y="23317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62A52"/>
                </a:solidFill>
                <a:latin typeface="Segoe UI"/>
              </a:rPr>
              <a:t>Early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0" y="3063240"/>
            <a:ext cx="46451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3063240"/>
            <a:ext cx="50800" cy="914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317296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Assurance subscription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50215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Recurring per-site / per-robot reliability dashboards.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378440" y="3355848"/>
            <a:ext cx="960120" cy="329184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78440" y="338328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62A52"/>
                </a:solidFill>
                <a:latin typeface="Segoe UI"/>
              </a:rPr>
              <a:t>Recurring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4114800"/>
            <a:ext cx="4645152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0" y="4114800"/>
            <a:ext cx="50800" cy="9144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422452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Integration fees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5537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One-time technology-transfer with telecom integrators.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78440" y="4407408"/>
            <a:ext cx="960120" cy="329184"/>
          </a:xfrm>
          <a:prstGeom prst="roundRect">
            <a:avLst>
              <a:gd name="adj" fmla="val 6000"/>
            </a:avLst>
          </a:prstGeom>
          <a:solidFill>
            <a:srgbClr val="E9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78440" y="44348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 i="0">
                <a:solidFill>
                  <a:srgbClr val="162A52"/>
                </a:solidFill>
                <a:latin typeface="Segoe UI"/>
              </a:rPr>
              <a:t>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5257800"/>
            <a:ext cx="46634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6B7486"/>
                </a:solidFill>
                <a:latin typeface="Segoe UI"/>
              </a:rPr>
              <a:t>Demand driver: the US alone needed ~546,000 more construction workers in 2023 — mirrored in Germany, Japan &amp; Korea.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220">
                <a:solidFill>
                  <a:srgbClr val="2E5BE0"/>
                </a:solidFill>
                <a:latin typeface="Segoe UI"/>
              </a:rPr>
              <a:t>09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86384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E1B33"/>
                </a:solidFill>
                <a:latin typeface="Segoe UI"/>
              </a:rPr>
              <a:t>From simulation to the 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89888"/>
            <a:ext cx="640080" cy="444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RSSI/PDR WiFi Mesh–Cellular Failover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19088"/>
            <a:ext cx="5029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2E5BE0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6446520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B7486"/>
                </a:solidFill>
                <a:latin typeface="Segoe UI"/>
              </a:rPr>
              <a:t>PIC Lab · KIT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72768"/>
            <a:ext cx="1081735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oadmap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703" y="1737360"/>
            <a:ext cx="4370113" cy="20116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411480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4114800"/>
            <a:ext cx="2560320" cy="457200"/>
          </a:xfrm>
          <a:prstGeom prst="roundRect">
            <a:avLst>
              <a:gd name="adj" fmla="val 6000"/>
            </a:avLst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370832"/>
            <a:ext cx="2560320" cy="201168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FFFFFF"/>
                </a:solidFill>
                <a:latin typeface="Segoe UI"/>
              </a:rPr>
              <a:t>COMPLETE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6634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109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Simulation of the controller + measurement pipeline.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47288" y="411480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47288" y="4114800"/>
            <a:ext cx="2560320" cy="457200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47288" y="4370832"/>
            <a:ext cx="2560320" cy="20116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30168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FFFFFF"/>
                </a:solidFill>
                <a:latin typeface="Segoe UI"/>
              </a:rPr>
              <a:t>IN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46634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Enhanced sim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50109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Waypoint mobility, QoS traffic, mesh handover, more seeds.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411480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8776" y="4114800"/>
            <a:ext cx="2560320" cy="457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8776" y="4370832"/>
            <a:ext cx="2560320" cy="201168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1656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FFFFFF"/>
                </a:solidFill>
                <a:latin typeface="Segoe UI"/>
              </a:rPr>
              <a:t>PLANNED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656" y="46634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Lab validation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50109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Confirm behavior on a real radio/hardware testbed.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70264" y="4114800"/>
            <a:ext cx="256032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1B253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70264" y="4114800"/>
            <a:ext cx="2560320" cy="457200"/>
          </a:xfrm>
          <a:prstGeom prst="roundRect">
            <a:avLst>
              <a:gd name="adj" fmla="val 6000"/>
            </a:avLst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70264" y="4370832"/>
            <a:ext cx="2560320" cy="201168"/>
          </a:xfrm>
          <a:prstGeom prst="rect">
            <a:avLst/>
          </a:prstGeom>
          <a:solidFill>
            <a:srgbClr val="2E5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53144" y="420624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 spc="120">
                <a:solidFill>
                  <a:srgbClr val="FFFFFF"/>
                </a:solidFill>
                <a:latin typeface="Segoe UI"/>
              </a:rPr>
              <a:t>PLANNED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53144" y="466344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E1B33"/>
                </a:solidFill>
                <a:latin typeface="Segoe UI"/>
              </a:rPr>
              <a:t>Field trial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53144" y="5010912"/>
            <a:ext cx="2240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6B7486"/>
                </a:solidFill>
                <a:latin typeface="Segoe UI"/>
              </a:rPr>
              <a:t>Prove seamless failover &amp; &lt; 200 ms on a live site.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943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2A52"/>
                </a:solidFill>
                <a:latin typeface="Segoe UI"/>
              </a:rPr>
              <a:t>Commercialization (1–3 yrs):  IP filing  →  license controller to gateway makers &amp; integrators  →  connectivity-assurance service.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300">
                <a:solidFill>
                  <a:srgbClr val="F5A623"/>
                </a:solidFill>
                <a:latin typeface="Segoe UI"/>
              </a:rPr>
              <a:t>IN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Keeping robot fleets connected —
without anyone noticing the switch.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88036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85292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83464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Dual-signal RSSI + PDR fusion with hysteresis — no false or oscillating switches.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88036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85292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83464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Make-before-break routing keeps live TCP sessions alive through every handover.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8404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81304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9476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&lt; 200 ms interruption met across all tested scenarios, scaled to 20 robots.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84048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81304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79476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Rare head-to-head LTE vs. 5G NR evaluation for construction robotics.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0060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7316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5488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Phase 1 validated in simulation; lab and field trials mapped out.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800600"/>
            <a:ext cx="292608" cy="292608"/>
          </a:xfrm>
          <a:prstGeom prst="roundRect">
            <a:avLst>
              <a:gd name="adj" fmla="val 6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773168"/>
            <a:ext cx="292608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E1B33"/>
                </a:solidFill>
                <a:latin typeface="Segoe U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754880"/>
            <a:ext cx="49377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D5DDEC"/>
                </a:solidFill>
                <a:latin typeface="Segoe UI"/>
              </a:rPr>
              <a:t>Clear path to market: IP → licensing → connectivity-assurance service.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080760"/>
            <a:ext cx="10515600" cy="12700"/>
          </a:xfrm>
          <a:prstGeom prst="rect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263640"/>
            <a:ext cx="6400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9C4DA"/>
                </a:solidFill>
                <a:latin typeface="Segoe UI"/>
              </a:rPr>
              <a:t>PIC Lab · Kyushu Institute of Technology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2636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 i="0">
                <a:solidFill>
                  <a:srgbClr val="F5A623"/>
                </a:solidFill>
                <a:latin typeface="Segoe UI"/>
              </a:rPr>
              <a:t>Idea &amp; Technology Proposal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