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88952" cy="54864"/>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914400"/>
          </a:xfrm>
          <a:prstGeom prst="rect">
            <a:avLst/>
          </a:prstGeom>
          <a:noFill/>
        </p:spPr>
        <p:txBody>
          <a:bodyPr wrap="square">
            <a:spAutoFit/>
          </a:bodyPr>
          <a:lstStyle/>
          <a:p>
            <a:pPr algn="ctr"/>
            <a:r>
              <a:rPr sz="3400" b="1" i="0">
                <a:solidFill>
                  <a:srgbClr val="FFFFFF"/>
                </a:solidFill>
              </a:rPr>
              <a:t>QoS-Separated Robot Traffic Model</a:t>
            </a:r>
          </a:p>
        </p:txBody>
      </p:sp>
      <p:sp>
        <p:nvSpPr>
          <p:cNvPr id="5" name="TextBox 4"/>
          <p:cNvSpPr txBox="1"/>
          <p:nvPr/>
        </p:nvSpPr>
        <p:spPr>
          <a:xfrm>
            <a:off x="640080" y="2331720"/>
            <a:ext cx="10972800" cy="548640"/>
          </a:xfrm>
          <a:prstGeom prst="rect">
            <a:avLst/>
          </a:prstGeom>
          <a:noFill/>
        </p:spPr>
        <p:txBody>
          <a:bodyPr wrap="square">
            <a:spAutoFit/>
          </a:bodyPr>
          <a:lstStyle/>
          <a:p>
            <a:pPr algn="ctr"/>
            <a:r>
              <a:rPr sz="1900" b="0" i="0">
                <a:solidFill>
                  <a:srgbClr val="BBD3F0"/>
                </a:solidFill>
              </a:rPr>
              <a:t>Final Results — Completed 192/192-Run Factorial Campaign</a:t>
            </a:r>
          </a:p>
        </p:txBody>
      </p:sp>
      <p:sp>
        <p:nvSpPr>
          <p:cNvPr id="6" name="TextBox 5"/>
          <p:cNvSpPr txBox="1"/>
          <p:nvPr/>
        </p:nvSpPr>
        <p:spPr>
          <a:xfrm>
            <a:off x="640080" y="2926080"/>
            <a:ext cx="10972800" cy="411480"/>
          </a:xfrm>
          <a:prstGeom prst="rect">
            <a:avLst/>
          </a:prstGeom>
          <a:noFill/>
        </p:spPr>
        <p:txBody>
          <a:bodyPr wrap="square">
            <a:spAutoFit/>
          </a:bodyPr>
          <a:lstStyle/>
          <a:p>
            <a:pPr algn="ctr"/>
            <a:r>
              <a:rPr sz="1500" b="0" i="1">
                <a:solidFill>
                  <a:srgbClr val="90B8E0"/>
                </a:solidFill>
              </a:rPr>
              <a:t>Control / Sensor / Video over WiFi Mesh + LTE / 5G NR</a:t>
            </a:r>
          </a:p>
        </p:txBody>
      </p:sp>
      <p:sp>
        <p:nvSpPr>
          <p:cNvPr id="7" name="Rectangle 6"/>
          <p:cNvSpPr/>
          <p:nvPr/>
        </p:nvSpPr>
        <p:spPr>
          <a:xfrm>
            <a:off x="3108960" y="4434840"/>
            <a:ext cx="5943600" cy="1188720"/>
          </a:xfrm>
          <a:prstGeom prst="rect">
            <a:avLst/>
          </a:prstGeom>
          <a:solidFill>
            <a:srgbClr val="0E22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0" y="4553712"/>
            <a:ext cx="5760720" cy="365760"/>
          </a:xfrm>
          <a:prstGeom prst="rect">
            <a:avLst/>
          </a:prstGeom>
          <a:noFill/>
        </p:spPr>
        <p:txBody>
          <a:bodyPr wrap="square">
            <a:spAutoFit/>
          </a:bodyPr>
          <a:lstStyle/>
          <a:p>
            <a:pPr algn="ctr"/>
            <a:r>
              <a:rPr sz="1600" b="1" i="0">
                <a:solidFill>
                  <a:srgbClr val="FFFFFF"/>
                </a:solidFill>
              </a:rPr>
              <a:t>Sheikh Sayed Bin Rahman</a:t>
            </a:r>
          </a:p>
        </p:txBody>
      </p:sp>
      <p:sp>
        <p:nvSpPr>
          <p:cNvPr id="9" name="TextBox 8"/>
          <p:cNvSpPr txBox="1"/>
          <p:nvPr/>
        </p:nvSpPr>
        <p:spPr>
          <a:xfrm>
            <a:off x="3200400" y="4937760"/>
            <a:ext cx="5760720" cy="292608"/>
          </a:xfrm>
          <a:prstGeom prst="rect">
            <a:avLst/>
          </a:prstGeom>
          <a:noFill/>
        </p:spPr>
        <p:txBody>
          <a:bodyPr wrap="square">
            <a:spAutoFit/>
          </a:bodyPr>
          <a:lstStyle/>
          <a:p>
            <a:pPr algn="ctr"/>
            <a:r>
              <a:rPr sz="1300" b="0" i="0">
                <a:solidFill>
                  <a:srgbClr val="BBD3F0"/>
                </a:solidFill>
              </a:rPr>
              <a:t>PIC Lab, Kyushu Institute of Technology (KIT)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515600" cy="594360"/>
          </a:xfrm>
          <a:prstGeom prst="rect">
            <a:avLst/>
          </a:prstGeom>
          <a:noFill/>
        </p:spPr>
        <p:txBody>
          <a:bodyPr wrap="square">
            <a:spAutoFit/>
          </a:bodyPr>
          <a:lstStyle/>
          <a:p>
            <a:pPr algn="l"/>
            <a:r>
              <a:rPr sz="2600" b="1" i="0">
                <a:solidFill>
                  <a:srgbClr val="FFFFFF"/>
                </a:solidFill>
              </a:rPr>
              <a:t>Campaign Overview</a:t>
            </a:r>
          </a:p>
        </p:txBody>
      </p:sp>
      <p:sp>
        <p:nvSpPr>
          <p:cNvPr id="4" name="TextBox 3"/>
          <p:cNvSpPr txBox="1"/>
          <p:nvPr/>
        </p:nvSpPr>
        <p:spPr>
          <a:xfrm>
            <a:off x="274320" y="658368"/>
            <a:ext cx="11430000" cy="347472"/>
          </a:xfrm>
          <a:prstGeom prst="rect">
            <a:avLst/>
          </a:prstGeom>
          <a:noFill/>
        </p:spPr>
        <p:txBody>
          <a:bodyPr wrap="square">
            <a:spAutoFit/>
          </a:bodyPr>
          <a:lstStyle/>
          <a:p>
            <a:pPr algn="l"/>
            <a:r>
              <a:rPr sz="1400" b="0" i="0">
                <a:solidFill>
                  <a:srgbClr val="BBD3F0"/>
                </a:solidFill>
              </a:rPr>
              <a:t>2 cellular modes × 2 hotspot bands × 4 STA counts × 4 payloads × 3 seeds = 192 runs</a:t>
            </a:r>
          </a:p>
        </p:txBody>
      </p:sp>
      <p:sp>
        <p:nvSpPr>
          <p:cNvPr id="5" name="Rectangle 4"/>
          <p:cNvSpPr/>
          <p:nvPr/>
        </p:nvSpPr>
        <p:spPr>
          <a:xfrm>
            <a:off x="0" y="6565392"/>
            <a:ext cx="12188952" cy="29260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74536"/>
            <a:ext cx="8229600" cy="256032"/>
          </a:xfrm>
          <a:prstGeom prst="rect">
            <a:avLst/>
          </a:prstGeom>
          <a:noFill/>
        </p:spPr>
        <p:txBody>
          <a:bodyPr wrap="square">
            <a:spAutoFit/>
          </a:bodyPr>
          <a:lstStyle/>
          <a:p>
            <a:pPr algn="l"/>
            <a:r>
              <a:rPr sz="900" b="0" i="0">
                <a:solidFill>
                  <a:srgbClr val="BBD3F0"/>
                </a:solidFill>
              </a:rPr>
              <a:t>Sheikh Sayed Bin Rahman  |  PIC Lab, Kyushu Institute of Technology (KIT)  |  2026</a:t>
            </a:r>
          </a:p>
        </p:txBody>
      </p:sp>
      <p:sp>
        <p:nvSpPr>
          <p:cNvPr id="7" name="TextBox 6"/>
          <p:cNvSpPr txBox="1"/>
          <p:nvPr/>
        </p:nvSpPr>
        <p:spPr>
          <a:xfrm>
            <a:off x="228600" y="1143000"/>
            <a:ext cx="5486400" cy="292608"/>
          </a:xfrm>
          <a:prstGeom prst="rect">
            <a:avLst/>
          </a:prstGeom>
          <a:noFill/>
        </p:spPr>
        <p:txBody>
          <a:bodyPr wrap="square">
            <a:spAutoFit/>
          </a:bodyPr>
          <a:lstStyle/>
          <a:p>
            <a:pPr algn="l"/>
            <a:r>
              <a:rPr sz="1300" b="1" i="0">
                <a:solidFill>
                  <a:srgbClr val="2E75B6"/>
                </a:solidFill>
              </a:rPr>
              <a:t>Traffic model (3 flows, DSCP-marked)</a:t>
            </a:r>
          </a:p>
        </p:txBody>
      </p:sp>
      <p:graphicFrame>
        <p:nvGraphicFramePr>
          <p:cNvPr id="8" name="Table 7"/>
          <p:cNvGraphicFramePr>
            <a:graphicFrameLocks noGrp="1"/>
          </p:cNvGraphicFramePr>
          <p:nvPr/>
        </p:nvGraphicFramePr>
        <p:xfrm>
          <a:off x="228600" y="1481328"/>
          <a:ext cx="5486400" cy="1170432"/>
        </p:xfrm>
        <a:graphic>
          <a:graphicData uri="http://schemas.openxmlformats.org/drawingml/2006/table">
            <a:tbl>
              <a:tblPr firstRow="1" bandRow="1">
                <a:tableStyleId>{5C22544A-7EE6-4342-B048-85BDC9FD1C3A}</a:tableStyleId>
              </a:tblPr>
              <a:tblGrid>
                <a:gridCol w="1097280"/>
                <a:gridCol w="1645920"/>
                <a:gridCol w="914400"/>
                <a:gridCol w="1828800"/>
              </a:tblGrid>
              <a:tr h="292608">
                <a:tc>
                  <a:txBody>
                    <a:bodyPr wrap="none"/>
                    <a:lstStyle/>
                    <a:p>
                      <a:pPr algn="ctr"/>
                      <a:r>
                        <a:rPr sz="1100" b="1">
                          <a:solidFill>
                            <a:srgbClr val="FFFFFF"/>
                          </a:solidFill>
                        </a:rPr>
                        <a:t>Flow</a:t>
                      </a:r>
                    </a:p>
                  </a:txBody>
                  <a:tcPr>
                    <a:solidFill>
                      <a:srgbClr val="2E75B6"/>
                    </a:solidFill>
                  </a:tcPr>
                </a:tc>
                <a:tc>
                  <a:txBody>
                    <a:bodyPr wrap="none"/>
                    <a:lstStyle/>
                    <a:p>
                      <a:pPr algn="ctr"/>
                      <a:r>
                        <a:rPr sz="1100" b="1">
                          <a:solidFill>
                            <a:srgbClr val="FFFFFF"/>
                          </a:solidFill>
                        </a:rPr>
                        <a:t>Transport</a:t>
                      </a:r>
                    </a:p>
                  </a:txBody>
                  <a:tcPr>
                    <a:solidFill>
                      <a:srgbClr val="2E75B6"/>
                    </a:solidFill>
                  </a:tcPr>
                </a:tc>
                <a:tc>
                  <a:txBody>
                    <a:bodyPr wrap="none"/>
                    <a:lstStyle/>
                    <a:p>
                      <a:pPr algn="ctr"/>
                      <a:r>
                        <a:rPr sz="1100" b="1">
                          <a:solidFill>
                            <a:srgbClr val="FFFFFF"/>
                          </a:solidFill>
                        </a:rPr>
                        <a:t>DSCP</a:t>
                      </a:r>
                    </a:p>
                  </a:txBody>
                  <a:tcPr>
                    <a:solidFill>
                      <a:srgbClr val="2E75B6"/>
                    </a:solidFill>
                  </a:tcPr>
                </a:tc>
                <a:tc>
                  <a:txBody>
                    <a:bodyPr wrap="none"/>
                    <a:lstStyle/>
                    <a:p>
                      <a:pPr algn="ctr"/>
                      <a:r>
                        <a:rPr sz="1100" b="1">
                          <a:solidFill>
                            <a:srgbClr val="FFFFFF"/>
                          </a:solidFill>
                        </a:rPr>
                        <a:t>Target</a:t>
                      </a:r>
                    </a:p>
                  </a:txBody>
                  <a:tcPr>
                    <a:solidFill>
                      <a:srgbClr val="2E75B6"/>
                    </a:solidFill>
                  </a:tcPr>
                </a:tc>
              </a:tr>
              <a:tr h="292608">
                <a:tc>
                  <a:txBody>
                    <a:bodyPr wrap="none"/>
                    <a:lstStyle/>
                    <a:p>
                      <a:pPr algn="ctr"/>
                      <a:r>
                        <a:rPr sz="1000" b="0">
                          <a:solidFill>
                            <a:srgbClr val="1A1A1A"/>
                          </a:solidFill>
                        </a:rPr>
                        <a:t>Control</a:t>
                      </a:r>
                    </a:p>
                  </a:txBody>
                  <a:tcPr>
                    <a:solidFill>
                      <a:srgbClr val="F2F6FC"/>
                    </a:solidFill>
                  </a:tcPr>
                </a:tc>
                <a:tc>
                  <a:txBody>
                    <a:bodyPr wrap="none"/>
                    <a:lstStyle/>
                    <a:p>
                      <a:pPr algn="ctr"/>
                      <a:r>
                        <a:rPr sz="1000" b="0">
                          <a:solidFill>
                            <a:srgbClr val="1A1A1A"/>
                          </a:solidFill>
                        </a:rPr>
                        <a:t>UDP, 1024B/50ms</a:t>
                      </a:r>
                    </a:p>
                  </a:txBody>
                  <a:tcPr>
                    <a:solidFill>
                      <a:srgbClr val="F2F6FC"/>
                    </a:solidFill>
                  </a:tcPr>
                </a:tc>
                <a:tc>
                  <a:txBody>
                    <a:bodyPr wrap="none"/>
                    <a:lstStyle/>
                    <a:p>
                      <a:pPr algn="ctr"/>
                      <a:r>
                        <a:rPr sz="1000" b="0">
                          <a:solidFill>
                            <a:srgbClr val="1A1A1A"/>
                          </a:solidFill>
                        </a:rPr>
                        <a:t>EF</a:t>
                      </a:r>
                    </a:p>
                  </a:txBody>
                  <a:tcPr>
                    <a:solidFill>
                      <a:srgbClr val="F2F6FC"/>
                    </a:solidFill>
                  </a:tcPr>
                </a:tc>
                <a:tc>
                  <a:txBody>
                    <a:bodyPr wrap="none"/>
                    <a:lstStyle/>
                    <a:p>
                      <a:pPr algn="ctr"/>
                      <a:r>
                        <a:rPr sz="1000" b="0">
                          <a:solidFill>
                            <a:srgbClr val="1A1A1A"/>
                          </a:solidFill>
                        </a:rPr>
                        <a:t>P99 ≤ 50ms; 0% loss</a:t>
                      </a:r>
                    </a:p>
                  </a:txBody>
                  <a:tcPr>
                    <a:solidFill>
                      <a:srgbClr val="F2F6FC"/>
                    </a:solidFill>
                  </a:tcPr>
                </a:tc>
              </a:tr>
              <a:tr h="292608">
                <a:tc>
                  <a:txBody>
                    <a:bodyPr wrap="none"/>
                    <a:lstStyle/>
                    <a:p>
                      <a:pPr algn="ctr"/>
                      <a:r>
                        <a:rPr sz="1000" b="0">
                          <a:solidFill>
                            <a:srgbClr val="1A1A1A"/>
                          </a:solidFill>
                        </a:rPr>
                        <a:t>Sensor</a:t>
                      </a:r>
                    </a:p>
                  </a:txBody>
                  <a:tcPr>
                    <a:solidFill>
                      <a:srgbClr val="FFFFFF"/>
                    </a:solidFill>
                  </a:tcPr>
                </a:tc>
                <a:tc>
                  <a:txBody>
                    <a:bodyPr wrap="none"/>
                    <a:lstStyle/>
                    <a:p>
                      <a:pPr algn="ctr"/>
                      <a:r>
                        <a:rPr sz="1000" b="0">
                          <a:solidFill>
                            <a:srgbClr val="1A1A1A"/>
                          </a:solidFill>
                        </a:rPr>
                        <a:t>TCP</a:t>
                      </a:r>
                    </a:p>
                  </a:txBody>
                  <a:tcPr>
                    <a:solidFill>
                      <a:srgbClr val="FFFFFF"/>
                    </a:solidFill>
                  </a:tcPr>
                </a:tc>
                <a:tc>
                  <a:txBody>
                    <a:bodyPr wrap="none"/>
                    <a:lstStyle/>
                    <a:p>
                      <a:pPr algn="ctr"/>
                      <a:r>
                        <a:rPr sz="1000" b="0">
                          <a:solidFill>
                            <a:srgbClr val="1A1A1A"/>
                          </a:solidFill>
                        </a:rPr>
                        <a:t>AF31</a:t>
                      </a:r>
                    </a:p>
                  </a:txBody>
                  <a:tcPr>
                    <a:solidFill>
                      <a:srgbClr val="FFFFFF"/>
                    </a:solidFill>
                  </a:tcPr>
                </a:tc>
                <a:tc>
                  <a:txBody>
                    <a:bodyPr wrap="none"/>
                    <a:lstStyle/>
                    <a:p>
                      <a:pPr algn="ctr"/>
                      <a:r>
                        <a:rPr sz="1000" b="0">
                          <a:solidFill>
                            <a:srgbClr val="1A1A1A"/>
                          </a:solidFill>
                        </a:rPr>
                        <a:t>Delay ≤ 200ms; loss &lt; 5%</a:t>
                      </a:r>
                    </a:p>
                  </a:txBody>
                  <a:tcPr>
                    <a:solidFill>
                      <a:srgbClr val="FFFFFF"/>
                    </a:solidFill>
                  </a:tcPr>
                </a:tc>
              </a:tr>
              <a:tr h="292608">
                <a:tc>
                  <a:txBody>
                    <a:bodyPr wrap="none"/>
                    <a:lstStyle/>
                    <a:p>
                      <a:pPr algn="ctr"/>
                      <a:r>
                        <a:rPr sz="1000" b="0">
                          <a:solidFill>
                            <a:srgbClr val="1A1A1A"/>
                          </a:solidFill>
                        </a:rPr>
                        <a:t>Video</a:t>
                      </a:r>
                    </a:p>
                  </a:txBody>
                  <a:tcPr>
                    <a:solidFill>
                      <a:srgbClr val="F2F6FC"/>
                    </a:solidFill>
                  </a:tcPr>
                </a:tc>
                <a:tc>
                  <a:txBody>
                    <a:bodyPr wrap="none"/>
                    <a:lstStyle/>
                    <a:p>
                      <a:pPr algn="ctr"/>
                      <a:r>
                        <a:rPr sz="1000" b="0">
                          <a:solidFill>
                            <a:srgbClr val="1A1A1A"/>
                          </a:solidFill>
                        </a:rPr>
                        <a:t>TCP</a:t>
                      </a:r>
                    </a:p>
                  </a:txBody>
                  <a:tcPr>
                    <a:solidFill>
                      <a:srgbClr val="F2F6FC"/>
                    </a:solidFill>
                  </a:tcPr>
                </a:tc>
                <a:tc>
                  <a:txBody>
                    <a:bodyPr wrap="none"/>
                    <a:lstStyle/>
                    <a:p>
                      <a:pPr algn="ctr"/>
                      <a:r>
                        <a:rPr sz="1000" b="0">
                          <a:solidFill>
                            <a:srgbClr val="1A1A1A"/>
                          </a:solidFill>
                        </a:rPr>
                        <a:t>AF41</a:t>
                      </a:r>
                    </a:p>
                  </a:txBody>
                  <a:tcPr>
                    <a:solidFill>
                      <a:srgbClr val="F2F6FC"/>
                    </a:solidFill>
                  </a:tcPr>
                </a:tc>
                <a:tc>
                  <a:txBody>
                    <a:bodyPr wrap="none"/>
                    <a:lstStyle/>
                    <a:p>
                      <a:pPr algn="ctr"/>
                      <a:r>
                        <a:rPr sz="1000" b="0">
                          <a:solidFill>
                            <a:srgbClr val="1A1A1A"/>
                          </a:solidFill>
                        </a:rPr>
                        <a:t>Delay ≤ 500ms; loss &lt; 10%</a:t>
                      </a:r>
                    </a:p>
                  </a:txBody>
                  <a:tcPr>
                    <a:solidFill>
                      <a:srgbClr val="F2F6FC"/>
                    </a:solidFill>
                  </a:tcPr>
                </a:tc>
              </a:tr>
            </a:tbl>
          </a:graphicData>
        </a:graphic>
      </p:graphicFrame>
      <p:sp>
        <p:nvSpPr>
          <p:cNvPr id="9" name="TextBox 8"/>
          <p:cNvSpPr txBox="1"/>
          <p:nvPr/>
        </p:nvSpPr>
        <p:spPr>
          <a:xfrm>
            <a:off x="6035040" y="1143000"/>
            <a:ext cx="2743200" cy="292608"/>
          </a:xfrm>
          <a:prstGeom prst="rect">
            <a:avLst/>
          </a:prstGeom>
          <a:noFill/>
        </p:spPr>
        <p:txBody>
          <a:bodyPr wrap="square">
            <a:spAutoFit/>
          </a:bodyPr>
          <a:lstStyle/>
          <a:p>
            <a:pPr algn="l"/>
            <a:r>
              <a:rPr sz="1300" b="1" i="0">
                <a:solidFill>
                  <a:srgbClr val="2E75B6"/>
                </a:solidFill>
              </a:rPr>
              <a:t>Matrix</a:t>
            </a:r>
          </a:p>
        </p:txBody>
      </p:sp>
      <p:graphicFrame>
        <p:nvGraphicFramePr>
          <p:cNvPr id="10" name="Table 9"/>
          <p:cNvGraphicFramePr>
            <a:graphicFrameLocks noGrp="1"/>
          </p:cNvGraphicFramePr>
          <p:nvPr/>
        </p:nvGraphicFramePr>
        <p:xfrm>
          <a:off x="6035040" y="1481328"/>
          <a:ext cx="2743200" cy="2048256"/>
        </p:xfrm>
        <a:graphic>
          <a:graphicData uri="http://schemas.openxmlformats.org/drawingml/2006/table">
            <a:tbl>
              <a:tblPr firstRow="1" bandRow="1">
                <a:tableStyleId>{5C22544A-7EE6-4342-B048-85BDC9FD1C3A}</a:tableStyleId>
              </a:tblPr>
              <a:tblGrid>
                <a:gridCol w="1371600"/>
                <a:gridCol w="1371600"/>
              </a:tblGrid>
              <a:tr h="292608">
                <a:tc>
                  <a:txBody>
                    <a:bodyPr wrap="none"/>
                    <a:lstStyle/>
                    <a:p>
                      <a:pPr algn="ctr"/>
                      <a:r>
                        <a:rPr sz="1100" b="1">
                          <a:solidFill>
                            <a:srgbClr val="FFFFFF"/>
                          </a:solidFill>
                        </a:rPr>
                        <a:t>Factor</a:t>
                      </a:r>
                    </a:p>
                  </a:txBody>
                  <a:tcPr>
                    <a:solidFill>
                      <a:srgbClr val="2E75B6"/>
                    </a:solidFill>
                  </a:tcPr>
                </a:tc>
                <a:tc>
                  <a:txBody>
                    <a:bodyPr wrap="none"/>
                    <a:lstStyle/>
                    <a:p>
                      <a:pPr algn="ctr"/>
                      <a:r>
                        <a:rPr sz="1100" b="1">
                          <a:solidFill>
                            <a:srgbClr val="FFFFFF"/>
                          </a:solidFill>
                        </a:rPr>
                        <a:t>Levels</a:t>
                      </a:r>
                    </a:p>
                  </a:txBody>
                  <a:tcPr>
                    <a:solidFill>
                      <a:srgbClr val="2E75B6"/>
                    </a:solidFill>
                  </a:tcPr>
                </a:tc>
              </a:tr>
              <a:tr h="292608">
                <a:tc>
                  <a:txBody>
                    <a:bodyPr wrap="none"/>
                    <a:lstStyle/>
                    <a:p>
                      <a:pPr algn="ctr"/>
                      <a:r>
                        <a:rPr sz="1000" b="0">
                          <a:solidFill>
                            <a:srgbClr val="1A1A1A"/>
                          </a:solidFill>
                        </a:rPr>
                        <a:t>Cellular mode</a:t>
                      </a:r>
                    </a:p>
                  </a:txBody>
                  <a:tcPr>
                    <a:solidFill>
                      <a:srgbClr val="F2F6FC"/>
                    </a:solidFill>
                  </a:tcPr>
                </a:tc>
                <a:tc>
                  <a:txBody>
                    <a:bodyPr wrap="none"/>
                    <a:lstStyle/>
                    <a:p>
                      <a:pPr algn="ctr"/>
                      <a:r>
                        <a:rPr sz="1000" b="0">
                          <a:solidFill>
                            <a:srgbClr val="1A1A1A"/>
                          </a:solidFill>
                        </a:rPr>
                        <a:t>LTE, NR</a:t>
                      </a:r>
                    </a:p>
                  </a:txBody>
                  <a:tcPr>
                    <a:solidFill>
                      <a:srgbClr val="F2F6FC"/>
                    </a:solidFill>
                  </a:tcPr>
                </a:tc>
              </a:tr>
              <a:tr h="292608">
                <a:tc>
                  <a:txBody>
                    <a:bodyPr wrap="none"/>
                    <a:lstStyle/>
                    <a:p>
                      <a:pPr algn="ctr"/>
                      <a:r>
                        <a:rPr sz="1000" b="0">
                          <a:solidFill>
                            <a:srgbClr val="1A1A1A"/>
                          </a:solidFill>
                        </a:rPr>
                        <a:t>Hotspot band</a:t>
                      </a:r>
                    </a:p>
                  </a:txBody>
                  <a:tcPr>
                    <a:solidFill>
                      <a:srgbClr val="FFFFFF"/>
                    </a:solidFill>
                  </a:tcPr>
                </a:tc>
                <a:tc>
                  <a:txBody>
                    <a:bodyPr wrap="none"/>
                    <a:lstStyle/>
                    <a:p>
                      <a:pPr algn="ctr"/>
                      <a:r>
                        <a:rPr sz="1000" b="0">
                          <a:solidFill>
                            <a:srgbClr val="1A1A1A"/>
                          </a:solidFill>
                        </a:rPr>
                        <a:t>2.4GHz, 5GHz</a:t>
                      </a:r>
                    </a:p>
                  </a:txBody>
                  <a:tcPr>
                    <a:solidFill>
                      <a:srgbClr val="FFFFFF"/>
                    </a:solidFill>
                  </a:tcPr>
                </a:tc>
              </a:tr>
              <a:tr h="292608">
                <a:tc>
                  <a:txBody>
                    <a:bodyPr wrap="none"/>
                    <a:lstStyle/>
                    <a:p>
                      <a:pPr algn="ctr"/>
                      <a:r>
                        <a:rPr sz="1000" b="0">
                          <a:solidFill>
                            <a:srgbClr val="1A1A1A"/>
                          </a:solidFill>
                        </a:rPr>
                        <a:t>STA count</a:t>
                      </a:r>
                    </a:p>
                  </a:txBody>
                  <a:tcPr>
                    <a:solidFill>
                      <a:srgbClr val="F2F6FC"/>
                    </a:solidFill>
                  </a:tcPr>
                </a:tc>
                <a:tc>
                  <a:txBody>
                    <a:bodyPr wrap="none"/>
                    <a:lstStyle/>
                    <a:p>
                      <a:pPr algn="ctr"/>
                      <a:r>
                        <a:rPr sz="1000" b="0">
                          <a:solidFill>
                            <a:srgbClr val="1A1A1A"/>
                          </a:solidFill>
                        </a:rPr>
                        <a:t>5, 10, 15, 20</a:t>
                      </a:r>
                    </a:p>
                  </a:txBody>
                  <a:tcPr>
                    <a:solidFill>
                      <a:srgbClr val="F2F6FC"/>
                    </a:solidFill>
                  </a:tcPr>
                </a:tc>
              </a:tr>
              <a:tr h="292608">
                <a:tc>
                  <a:txBody>
                    <a:bodyPr wrap="none"/>
                    <a:lstStyle/>
                    <a:p>
                      <a:pPr algn="ctr"/>
                      <a:r>
                        <a:rPr sz="1000" b="0">
                          <a:solidFill>
                            <a:srgbClr val="1A1A1A"/>
                          </a:solidFill>
                        </a:rPr>
                        <a:t>Payload</a:t>
                      </a:r>
                    </a:p>
                  </a:txBody>
                  <a:tcPr>
                    <a:solidFill>
                      <a:srgbClr val="FFFFFF"/>
                    </a:solidFill>
                  </a:tcPr>
                </a:tc>
                <a:tc>
                  <a:txBody>
                    <a:bodyPr wrap="none"/>
                    <a:lstStyle/>
                    <a:p>
                      <a:pPr algn="ctr"/>
                      <a:r>
                        <a:rPr sz="1000" b="0">
                          <a:solidFill>
                            <a:srgbClr val="1A1A1A"/>
                          </a:solidFill>
                        </a:rPr>
                        <a:t>10KB, 50KB, 1MB, 2MB</a:t>
                      </a:r>
                    </a:p>
                  </a:txBody>
                  <a:tcPr>
                    <a:solidFill>
                      <a:srgbClr val="FFFFFF"/>
                    </a:solidFill>
                  </a:tcPr>
                </a:tc>
              </a:tr>
              <a:tr h="292608">
                <a:tc>
                  <a:txBody>
                    <a:bodyPr wrap="none"/>
                    <a:lstStyle/>
                    <a:p>
                      <a:pPr algn="ctr"/>
                      <a:r>
                        <a:rPr sz="1000" b="0">
                          <a:solidFill>
                            <a:srgbClr val="1A1A1A"/>
                          </a:solidFill>
                        </a:rPr>
                        <a:t>Seeds</a:t>
                      </a:r>
                    </a:p>
                  </a:txBody>
                  <a:tcPr>
                    <a:solidFill>
                      <a:srgbClr val="F2F6FC"/>
                    </a:solidFill>
                  </a:tcPr>
                </a:tc>
                <a:tc>
                  <a:txBody>
                    <a:bodyPr wrap="none"/>
                    <a:lstStyle/>
                    <a:p>
                      <a:pPr algn="ctr"/>
                      <a:r>
                        <a:rPr sz="1000" b="0">
                          <a:solidFill>
                            <a:srgbClr val="1A1A1A"/>
                          </a:solidFill>
                        </a:rPr>
                        <a:t>7, 8, 9</a:t>
                      </a:r>
                    </a:p>
                  </a:txBody>
                  <a:tcPr>
                    <a:solidFill>
                      <a:srgbClr val="F2F6FC"/>
                    </a:solidFill>
                  </a:tcPr>
                </a:tc>
              </a:tr>
              <a:tr h="292608">
                <a:tc>
                  <a:txBody>
                    <a:bodyPr wrap="none"/>
                    <a:lstStyle/>
                    <a:p>
                      <a:pPr algn="ctr"/>
                      <a:r>
                        <a:rPr sz="1000" b="0">
                          <a:solidFill>
                            <a:srgbClr val="1A1A1A"/>
                          </a:solidFill>
                        </a:rPr>
                        <a:t>Completed</a:t>
                      </a:r>
                    </a:p>
                  </a:txBody>
                  <a:tcPr>
                    <a:solidFill>
                      <a:srgbClr val="FFFFFF"/>
                    </a:solidFill>
                  </a:tcPr>
                </a:tc>
                <a:tc>
                  <a:txBody>
                    <a:bodyPr wrap="none"/>
                    <a:lstStyle/>
                    <a:p>
                      <a:pPr algn="ctr"/>
                      <a:r>
                        <a:rPr sz="1000" b="0">
                          <a:solidFill>
                            <a:srgbClr val="1A1A1A"/>
                          </a:solidFill>
                        </a:rPr>
                        <a:t>192 / 192</a:t>
                      </a:r>
                    </a:p>
                  </a:txBody>
                  <a:tcPr>
                    <a:solidFill>
                      <a:srgbClr val="FFFFFF"/>
                    </a:solidFill>
                  </a:tcPr>
                </a:tc>
              </a:tr>
            </a:tbl>
          </a:graphicData>
        </a:graphic>
      </p:graphicFrame>
      <p:sp>
        <p:nvSpPr>
          <p:cNvPr id="11" name="Rectangle 10"/>
          <p:cNvSpPr/>
          <p:nvPr/>
        </p:nvSpPr>
        <p:spPr>
          <a:xfrm>
            <a:off x="228600" y="3977639"/>
            <a:ext cx="11704320" cy="50292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4023360"/>
            <a:ext cx="11430000" cy="402336"/>
          </a:xfrm>
          <a:prstGeom prst="rect">
            <a:avLst/>
          </a:prstGeom>
          <a:noFill/>
        </p:spPr>
        <p:txBody>
          <a:bodyPr wrap="square">
            <a:spAutoFit/>
          </a:bodyPr>
          <a:lstStyle/>
          <a:p>
            <a:pPr algn="ctr"/>
            <a:r>
              <a:rPr sz="1200" b="0" i="0">
                <a:solidFill>
                  <a:srgbClr val="1A376C"/>
                </a:solidFill>
              </a:rPr>
              <a:t>All 192 runs completed successfully. A WiFi association crash (stale management frame during multi-AP roaming) found mid-campaign was patched in ns-3's sta-wifi-mac.cc before this final data was collected.</a:t>
            </a:r>
          </a:p>
        </p:txBody>
      </p:sp>
      <p:pic>
        <p:nvPicPr>
          <p:cNvPr id="13" name="Picture 12" descr="fig01_control_pdr_by_mode.png"/>
          <p:cNvPicPr>
            <a:picLocks noChangeAspect="1"/>
          </p:cNvPicPr>
          <p:nvPr/>
        </p:nvPicPr>
        <p:blipFill>
          <a:blip r:embed="rId2"/>
          <a:stretch>
            <a:fillRect/>
          </a:stretch>
        </p:blipFill>
        <p:spPr>
          <a:xfrm>
            <a:off x="1463040" y="4572000"/>
            <a:ext cx="4480560" cy="1920240"/>
          </a:xfrm>
          <a:prstGeom prst="rect">
            <a:avLst/>
          </a:prstGeom>
        </p:spPr>
      </p:pic>
      <p:pic>
        <p:nvPicPr>
          <p:cNvPr id="14" name="Picture 13" descr="fig04_throughput_share.png"/>
          <p:cNvPicPr>
            <a:picLocks noChangeAspect="1"/>
          </p:cNvPicPr>
          <p:nvPr/>
        </p:nvPicPr>
        <p:blipFill>
          <a:blip r:embed="rId3"/>
          <a:stretch>
            <a:fillRect/>
          </a:stretch>
        </p:blipFill>
        <p:spPr>
          <a:xfrm>
            <a:off x="6309360" y="4572000"/>
            <a:ext cx="4480560" cy="1920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515600" cy="594360"/>
          </a:xfrm>
          <a:prstGeom prst="rect">
            <a:avLst/>
          </a:prstGeom>
          <a:noFill/>
        </p:spPr>
        <p:txBody>
          <a:bodyPr wrap="square">
            <a:spAutoFit/>
          </a:bodyPr>
          <a:lstStyle/>
          <a:p>
            <a:pPr algn="l"/>
            <a:r>
              <a:rPr sz="2600" b="1" i="0">
                <a:solidFill>
                  <a:srgbClr val="FFFFFF"/>
                </a:solidFill>
              </a:rPr>
              <a:t>1.  Headline Result: Two Legs, Not One Average</a:t>
            </a:r>
          </a:p>
        </p:txBody>
      </p:sp>
      <p:sp>
        <p:nvSpPr>
          <p:cNvPr id="4" name="TextBox 3"/>
          <p:cNvSpPr txBox="1"/>
          <p:nvPr/>
        </p:nvSpPr>
        <p:spPr>
          <a:xfrm>
            <a:off x="274320" y="658368"/>
            <a:ext cx="11430000" cy="347472"/>
          </a:xfrm>
          <a:prstGeom prst="rect">
            <a:avLst/>
          </a:prstGeom>
          <a:noFill/>
        </p:spPr>
        <p:txBody>
          <a:bodyPr wrap="square">
            <a:spAutoFit/>
          </a:bodyPr>
          <a:lstStyle/>
          <a:p>
            <a:pPr algn="l"/>
            <a:r>
              <a:rPr sz="1400" b="0" i="0">
                <a:solidFill>
                  <a:srgbClr val="BBD3F0"/>
                </a:solidFill>
              </a:rPr>
              <a:t>The mesh primary leg and cellular fallback leg behave very differently — blending them hid that</a:t>
            </a:r>
          </a:p>
        </p:txBody>
      </p:sp>
      <p:sp>
        <p:nvSpPr>
          <p:cNvPr id="5" name="Rectangle 4"/>
          <p:cNvSpPr/>
          <p:nvPr/>
        </p:nvSpPr>
        <p:spPr>
          <a:xfrm>
            <a:off x="0" y="6565392"/>
            <a:ext cx="12188952" cy="29260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74536"/>
            <a:ext cx="8229600" cy="256032"/>
          </a:xfrm>
          <a:prstGeom prst="rect">
            <a:avLst/>
          </a:prstGeom>
          <a:noFill/>
        </p:spPr>
        <p:txBody>
          <a:bodyPr wrap="square">
            <a:spAutoFit/>
          </a:bodyPr>
          <a:lstStyle/>
          <a:p>
            <a:pPr algn="l"/>
            <a:r>
              <a:rPr sz="900" b="0" i="0">
                <a:solidFill>
                  <a:srgbClr val="BBD3F0"/>
                </a:solidFill>
              </a:rPr>
              <a:t>Sheikh Sayed Bin Rahman  |  PIC Lab, Kyushu Institute of Technology (KIT)  |  2026</a:t>
            </a:r>
          </a:p>
        </p:txBody>
      </p:sp>
      <p:sp>
        <p:nvSpPr>
          <p:cNvPr id="7" name="Rectangle 6"/>
          <p:cNvSpPr/>
          <p:nvPr/>
        </p:nvSpPr>
        <p:spPr>
          <a:xfrm>
            <a:off x="228600" y="1143000"/>
            <a:ext cx="2743200" cy="1051560"/>
          </a:xfrm>
          <a:prstGeom prst="rect">
            <a:avLst/>
          </a:prstGeom>
          <a:solidFill>
            <a:srgbClr val="8A4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188720"/>
            <a:ext cx="2560320" cy="411480"/>
          </a:xfrm>
          <a:prstGeom prst="rect">
            <a:avLst/>
          </a:prstGeom>
          <a:noFill/>
        </p:spPr>
        <p:txBody>
          <a:bodyPr wrap="square">
            <a:spAutoFit/>
          </a:bodyPr>
          <a:lstStyle/>
          <a:p>
            <a:pPr algn="ctr"/>
            <a:r>
              <a:rPr sz="1050" b="0" i="0">
                <a:solidFill>
                  <a:srgbClr val="FFE8C0"/>
                </a:solidFill>
              </a:rPr>
              <a:t>Control PDR — WiFi mesh leg (LTE)</a:t>
            </a:r>
          </a:p>
        </p:txBody>
      </p:sp>
      <p:sp>
        <p:nvSpPr>
          <p:cNvPr id="9" name="TextBox 8"/>
          <p:cNvSpPr txBox="1"/>
          <p:nvPr/>
        </p:nvSpPr>
        <p:spPr>
          <a:xfrm>
            <a:off x="274320" y="1572768"/>
            <a:ext cx="2651760" cy="365760"/>
          </a:xfrm>
          <a:prstGeom prst="rect">
            <a:avLst/>
          </a:prstGeom>
          <a:noFill/>
        </p:spPr>
        <p:txBody>
          <a:bodyPr wrap="square">
            <a:spAutoFit/>
          </a:bodyPr>
          <a:lstStyle/>
          <a:p>
            <a:pPr algn="ctr"/>
            <a:r>
              <a:rPr sz="2200" b="1" i="0">
                <a:solidFill>
                  <a:srgbClr val="C9A02A"/>
                </a:solidFill>
              </a:rPr>
              <a:t>55.5%</a:t>
            </a:r>
          </a:p>
        </p:txBody>
      </p:sp>
      <p:sp>
        <p:nvSpPr>
          <p:cNvPr id="10" name="TextBox 9"/>
          <p:cNvSpPr txBox="1"/>
          <p:nvPr/>
        </p:nvSpPr>
        <p:spPr>
          <a:xfrm>
            <a:off x="274320" y="1938528"/>
            <a:ext cx="2651760" cy="228600"/>
          </a:xfrm>
          <a:prstGeom prst="rect">
            <a:avLst/>
          </a:prstGeom>
          <a:noFill/>
        </p:spPr>
        <p:txBody>
          <a:bodyPr wrap="square">
            <a:spAutoFit/>
          </a:bodyPr>
          <a:lstStyle/>
          <a:p>
            <a:pPr algn="ctr"/>
            <a:r>
              <a:rPr sz="900" b="0" i="1">
                <a:solidFill>
                  <a:srgbClr val="BBD3F0"/>
                </a:solidFill>
              </a:rPr>
              <a:t>below spec</a:t>
            </a:r>
          </a:p>
        </p:txBody>
      </p:sp>
      <p:sp>
        <p:nvSpPr>
          <p:cNvPr id="11" name="Rectangle 10"/>
          <p:cNvSpPr/>
          <p:nvPr/>
        </p:nvSpPr>
        <p:spPr>
          <a:xfrm>
            <a:off x="3218688" y="1143000"/>
            <a:ext cx="2743200" cy="1051560"/>
          </a:xfrm>
          <a:prstGeom prst="rect">
            <a:avLst/>
          </a:prstGeom>
          <a:solidFill>
            <a:srgbClr val="8A4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128" y="1188720"/>
            <a:ext cx="2560320" cy="411480"/>
          </a:xfrm>
          <a:prstGeom prst="rect">
            <a:avLst/>
          </a:prstGeom>
          <a:noFill/>
        </p:spPr>
        <p:txBody>
          <a:bodyPr wrap="square">
            <a:spAutoFit/>
          </a:bodyPr>
          <a:lstStyle/>
          <a:p>
            <a:pPr algn="ctr"/>
            <a:r>
              <a:rPr sz="1050" b="0" i="0">
                <a:solidFill>
                  <a:srgbClr val="FFE8C0"/>
                </a:solidFill>
              </a:rPr>
              <a:t>Control PDR — WiFi mesh leg (NR)</a:t>
            </a:r>
          </a:p>
        </p:txBody>
      </p:sp>
      <p:sp>
        <p:nvSpPr>
          <p:cNvPr id="13" name="TextBox 12"/>
          <p:cNvSpPr txBox="1"/>
          <p:nvPr/>
        </p:nvSpPr>
        <p:spPr>
          <a:xfrm>
            <a:off x="3264408" y="1572768"/>
            <a:ext cx="2651760" cy="365760"/>
          </a:xfrm>
          <a:prstGeom prst="rect">
            <a:avLst/>
          </a:prstGeom>
          <a:noFill/>
        </p:spPr>
        <p:txBody>
          <a:bodyPr wrap="square">
            <a:spAutoFit/>
          </a:bodyPr>
          <a:lstStyle/>
          <a:p>
            <a:pPr algn="ctr"/>
            <a:r>
              <a:rPr sz="2200" b="1" i="0">
                <a:solidFill>
                  <a:srgbClr val="C9A02A"/>
                </a:solidFill>
              </a:rPr>
              <a:t>56.1%</a:t>
            </a:r>
          </a:p>
        </p:txBody>
      </p:sp>
      <p:sp>
        <p:nvSpPr>
          <p:cNvPr id="14" name="TextBox 13"/>
          <p:cNvSpPr txBox="1"/>
          <p:nvPr/>
        </p:nvSpPr>
        <p:spPr>
          <a:xfrm>
            <a:off x="3264408" y="1938528"/>
            <a:ext cx="2651760" cy="228600"/>
          </a:xfrm>
          <a:prstGeom prst="rect">
            <a:avLst/>
          </a:prstGeom>
          <a:noFill/>
        </p:spPr>
        <p:txBody>
          <a:bodyPr wrap="square">
            <a:spAutoFit/>
          </a:bodyPr>
          <a:lstStyle/>
          <a:p>
            <a:pPr algn="ctr"/>
            <a:r>
              <a:rPr sz="900" b="0" i="1">
                <a:solidFill>
                  <a:srgbClr val="BBD3F0"/>
                </a:solidFill>
              </a:rPr>
              <a:t>below spec</a:t>
            </a:r>
          </a:p>
        </p:txBody>
      </p:sp>
      <p:sp>
        <p:nvSpPr>
          <p:cNvPr id="15" name="Rectangle 14"/>
          <p:cNvSpPr/>
          <p:nvPr/>
        </p:nvSpPr>
        <p:spPr>
          <a:xfrm>
            <a:off x="6208776" y="1143000"/>
            <a:ext cx="2743200"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0216" y="1188720"/>
            <a:ext cx="2560320" cy="411480"/>
          </a:xfrm>
          <a:prstGeom prst="rect">
            <a:avLst/>
          </a:prstGeom>
          <a:noFill/>
        </p:spPr>
        <p:txBody>
          <a:bodyPr wrap="square">
            <a:spAutoFit/>
          </a:bodyPr>
          <a:lstStyle/>
          <a:p>
            <a:pPr algn="ctr"/>
            <a:r>
              <a:rPr sz="1050" b="0" i="0">
                <a:solidFill>
                  <a:srgbClr val="BBD3F0"/>
                </a:solidFill>
              </a:rPr>
              <a:t>Control PDR — cellular leg (LTE)</a:t>
            </a:r>
          </a:p>
        </p:txBody>
      </p:sp>
      <p:sp>
        <p:nvSpPr>
          <p:cNvPr id="17" name="TextBox 16"/>
          <p:cNvSpPr txBox="1"/>
          <p:nvPr/>
        </p:nvSpPr>
        <p:spPr>
          <a:xfrm>
            <a:off x="6254496" y="1572768"/>
            <a:ext cx="2651760" cy="365760"/>
          </a:xfrm>
          <a:prstGeom prst="rect">
            <a:avLst/>
          </a:prstGeom>
          <a:noFill/>
        </p:spPr>
        <p:txBody>
          <a:bodyPr wrap="square">
            <a:spAutoFit/>
          </a:bodyPr>
          <a:lstStyle/>
          <a:p>
            <a:pPr algn="ctr"/>
            <a:r>
              <a:rPr sz="2200" b="1" i="0">
                <a:solidFill>
                  <a:srgbClr val="C9A02A"/>
                </a:solidFill>
              </a:rPr>
              <a:t>94.3%</a:t>
            </a:r>
          </a:p>
        </p:txBody>
      </p:sp>
      <p:sp>
        <p:nvSpPr>
          <p:cNvPr id="18" name="TextBox 17"/>
          <p:cNvSpPr txBox="1"/>
          <p:nvPr/>
        </p:nvSpPr>
        <p:spPr>
          <a:xfrm>
            <a:off x="6254496" y="1938528"/>
            <a:ext cx="2651760" cy="228600"/>
          </a:xfrm>
          <a:prstGeom prst="rect">
            <a:avLst/>
          </a:prstGeom>
          <a:noFill/>
        </p:spPr>
        <p:txBody>
          <a:bodyPr wrap="square">
            <a:spAutoFit/>
          </a:bodyPr>
          <a:lstStyle/>
          <a:p>
            <a:pPr algn="ctr"/>
            <a:r>
              <a:rPr sz="900" b="0" i="1">
                <a:solidFill>
                  <a:srgbClr val="BBD3F0"/>
                </a:solidFill>
              </a:rPr>
              <a:t>meets target</a:t>
            </a:r>
          </a:p>
        </p:txBody>
      </p:sp>
      <p:sp>
        <p:nvSpPr>
          <p:cNvPr id="19" name="Rectangle 18"/>
          <p:cNvSpPr/>
          <p:nvPr/>
        </p:nvSpPr>
        <p:spPr>
          <a:xfrm>
            <a:off x="9198864" y="1143000"/>
            <a:ext cx="2743200"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90304" y="1188720"/>
            <a:ext cx="2560320" cy="411480"/>
          </a:xfrm>
          <a:prstGeom prst="rect">
            <a:avLst/>
          </a:prstGeom>
          <a:noFill/>
        </p:spPr>
        <p:txBody>
          <a:bodyPr wrap="square">
            <a:spAutoFit/>
          </a:bodyPr>
          <a:lstStyle/>
          <a:p>
            <a:pPr algn="ctr"/>
            <a:r>
              <a:rPr sz="1050" b="0" i="0">
                <a:solidFill>
                  <a:srgbClr val="BBD3F0"/>
                </a:solidFill>
              </a:rPr>
              <a:t>Control PDR — cellular leg (NR)</a:t>
            </a:r>
          </a:p>
        </p:txBody>
      </p:sp>
      <p:sp>
        <p:nvSpPr>
          <p:cNvPr id="21" name="TextBox 20"/>
          <p:cNvSpPr txBox="1"/>
          <p:nvPr/>
        </p:nvSpPr>
        <p:spPr>
          <a:xfrm>
            <a:off x="9244584" y="1572768"/>
            <a:ext cx="2651760" cy="365760"/>
          </a:xfrm>
          <a:prstGeom prst="rect">
            <a:avLst/>
          </a:prstGeom>
          <a:noFill/>
        </p:spPr>
        <p:txBody>
          <a:bodyPr wrap="square">
            <a:spAutoFit/>
          </a:bodyPr>
          <a:lstStyle/>
          <a:p>
            <a:pPr algn="ctr"/>
            <a:r>
              <a:rPr sz="2200" b="1" i="0">
                <a:solidFill>
                  <a:srgbClr val="C9A02A"/>
                </a:solidFill>
              </a:rPr>
              <a:t>74.0%</a:t>
            </a:r>
          </a:p>
        </p:txBody>
      </p:sp>
      <p:sp>
        <p:nvSpPr>
          <p:cNvPr id="22" name="TextBox 21"/>
          <p:cNvSpPr txBox="1"/>
          <p:nvPr/>
        </p:nvSpPr>
        <p:spPr>
          <a:xfrm>
            <a:off x="9244584" y="1938528"/>
            <a:ext cx="2651760" cy="228600"/>
          </a:xfrm>
          <a:prstGeom prst="rect">
            <a:avLst/>
          </a:prstGeom>
          <a:noFill/>
        </p:spPr>
        <p:txBody>
          <a:bodyPr wrap="square">
            <a:spAutoFit/>
          </a:bodyPr>
          <a:lstStyle/>
          <a:p>
            <a:pPr algn="ctr"/>
            <a:r>
              <a:rPr sz="900" b="0" i="1">
                <a:solidFill>
                  <a:srgbClr val="BBD3F0"/>
                </a:solidFill>
              </a:rPr>
              <a:t>meets target</a:t>
            </a:r>
          </a:p>
        </p:txBody>
      </p:sp>
      <p:sp>
        <p:nvSpPr>
          <p:cNvPr id="23" name="TextBox 22"/>
          <p:cNvSpPr txBox="1"/>
          <p:nvPr/>
        </p:nvSpPr>
        <p:spPr>
          <a:xfrm>
            <a:off x="228600" y="2377440"/>
            <a:ext cx="7772400" cy="1554480"/>
          </a:xfrm>
          <a:prstGeom prst="rect">
            <a:avLst/>
          </a:prstGeom>
          <a:noFill/>
        </p:spPr>
        <p:txBody>
          <a:bodyPr wrap="square">
            <a:spAutoFit/>
          </a:bodyPr>
          <a:lstStyle/>
          <a:p>
            <a:pPr algn="l"/>
            <a:r>
              <a:rPr sz="1300" b="0" i="1">
                <a:solidFill>
                  <a:srgbClr val="1A1A1A"/>
                </a:solidFill>
              </a:rPr>
              <a:t>The cellular fallback leg meets the Control-flow requirement; the WiFi mesh primary leg does not. Earlier progress decks quoted one blended figure that averaged both legs together and attributed the weakness to the hybrid design as a whole — the actual limiting factor is the mesh primary leg specifically (mesh association / route maintenance, scoped as the August enhancement item), not the switching mechanism.</a:t>
            </a:r>
          </a:p>
        </p:txBody>
      </p:sp>
      <p:pic>
        <p:nvPicPr>
          <p:cNvPr id="24" name="Picture 23" descr="fig13_control_pdr_by_leg.png"/>
          <p:cNvPicPr>
            <a:picLocks noChangeAspect="1"/>
          </p:cNvPicPr>
          <p:nvPr/>
        </p:nvPicPr>
        <p:blipFill>
          <a:blip r:embed="rId2"/>
          <a:stretch>
            <a:fillRect/>
          </a:stretch>
        </p:blipFill>
        <p:spPr>
          <a:xfrm>
            <a:off x="8229600" y="1188720"/>
            <a:ext cx="3749039" cy="51206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515600" cy="594360"/>
          </a:xfrm>
          <a:prstGeom prst="rect">
            <a:avLst/>
          </a:prstGeom>
          <a:noFill/>
        </p:spPr>
        <p:txBody>
          <a:bodyPr wrap="square">
            <a:spAutoFit/>
          </a:bodyPr>
          <a:lstStyle/>
          <a:p>
            <a:pPr algn="l"/>
            <a:r>
              <a:rPr sz="2600" b="1" i="0">
                <a:solidFill>
                  <a:srgbClr val="FFFFFF"/>
                </a:solidFill>
              </a:rPr>
              <a:t>2.  Switch Recovery: Fast in the Majority of Cases</a:t>
            </a:r>
          </a:p>
        </p:txBody>
      </p:sp>
      <p:sp>
        <p:nvSpPr>
          <p:cNvPr id="4" name="TextBox 3"/>
          <p:cNvSpPr txBox="1"/>
          <p:nvPr/>
        </p:nvSpPr>
        <p:spPr>
          <a:xfrm>
            <a:off x="274320" y="658368"/>
            <a:ext cx="11430000" cy="347472"/>
          </a:xfrm>
          <a:prstGeom prst="rect">
            <a:avLst/>
          </a:prstGeom>
          <a:noFill/>
        </p:spPr>
        <p:txBody>
          <a:bodyPr wrap="square">
            <a:spAutoFit/>
          </a:bodyPr>
          <a:lstStyle/>
          <a:p>
            <a:pPr algn="l"/>
            <a:r>
              <a:rPr sz="1400" b="0" i="0">
                <a:solidFill>
                  <a:srgbClr val="BBD3F0"/>
                </a:solidFill>
              </a:rPr>
              <a:t>Measured vs. censored interruption timing across all 192 runs</a:t>
            </a:r>
          </a:p>
        </p:txBody>
      </p:sp>
      <p:sp>
        <p:nvSpPr>
          <p:cNvPr id="5" name="Rectangle 4"/>
          <p:cNvSpPr/>
          <p:nvPr/>
        </p:nvSpPr>
        <p:spPr>
          <a:xfrm>
            <a:off x="0" y="6565392"/>
            <a:ext cx="12188952" cy="29260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74536"/>
            <a:ext cx="8229600" cy="256032"/>
          </a:xfrm>
          <a:prstGeom prst="rect">
            <a:avLst/>
          </a:prstGeom>
          <a:noFill/>
        </p:spPr>
        <p:txBody>
          <a:bodyPr wrap="square">
            <a:spAutoFit/>
          </a:bodyPr>
          <a:lstStyle/>
          <a:p>
            <a:pPr algn="l"/>
            <a:r>
              <a:rPr sz="900" b="0" i="0">
                <a:solidFill>
                  <a:srgbClr val="BBD3F0"/>
                </a:solidFill>
              </a:rPr>
              <a:t>Sheikh Sayed Bin Rahman  |  PIC Lab, Kyushu Institute of Technology (KIT)  |  2026</a:t>
            </a:r>
          </a:p>
        </p:txBody>
      </p:sp>
      <p:graphicFrame>
        <p:nvGraphicFramePr>
          <p:cNvPr id="7" name="Table 6"/>
          <p:cNvGraphicFramePr>
            <a:graphicFrameLocks noGrp="1"/>
          </p:cNvGraphicFramePr>
          <p:nvPr/>
        </p:nvGraphicFramePr>
        <p:xfrm>
          <a:off x="228600" y="1188720"/>
          <a:ext cx="5943600" cy="1463040"/>
        </p:xfrm>
        <a:graphic>
          <a:graphicData uri="http://schemas.openxmlformats.org/drawingml/2006/table">
            <a:tbl>
              <a:tblPr firstRow="1" bandRow="1">
                <a:tableStyleId>{5C22544A-7EE6-4342-B048-85BDC9FD1C3A}</a:tableStyleId>
              </a:tblPr>
              <a:tblGrid>
                <a:gridCol w="3474720"/>
                <a:gridCol w="2468880"/>
              </a:tblGrid>
              <a:tr h="292608">
                <a:tc>
                  <a:txBody>
                    <a:bodyPr wrap="none"/>
                    <a:lstStyle/>
                    <a:p>
                      <a:pPr algn="ctr"/>
                      <a:r>
                        <a:rPr sz="1100" b="1">
                          <a:solidFill>
                            <a:srgbClr val="FFFFFF"/>
                          </a:solidFill>
                        </a:rPr>
                        <a:t>Metric</a:t>
                      </a:r>
                    </a:p>
                  </a:txBody>
                  <a:tcPr>
                    <a:solidFill>
                      <a:srgbClr val="2E75B6"/>
                    </a:solidFill>
                  </a:tcPr>
                </a:tc>
                <a:tc>
                  <a:txBody>
                    <a:bodyPr wrap="none"/>
                    <a:lstStyle/>
                    <a:p>
                      <a:pPr algn="ctr"/>
                      <a:r>
                        <a:rPr sz="1100" b="1">
                          <a:solidFill>
                            <a:srgbClr val="FFFFFF"/>
                          </a:solidFill>
                        </a:rPr>
                        <a:t>Value</a:t>
                      </a:r>
                    </a:p>
                  </a:txBody>
                  <a:tcPr>
                    <a:solidFill>
                      <a:srgbClr val="2E75B6"/>
                    </a:solidFill>
                  </a:tcPr>
                </a:tc>
              </a:tr>
              <a:tr h="292608">
                <a:tc>
                  <a:txBody>
                    <a:bodyPr wrap="none"/>
                    <a:lstStyle/>
                    <a:p>
                      <a:pPr algn="ctr"/>
                      <a:r>
                        <a:rPr sz="1000" b="0">
                          <a:solidFill>
                            <a:srgbClr val="1A1A1A"/>
                          </a:solidFill>
                        </a:rPr>
                        <a:t>Total switch samples</a:t>
                      </a:r>
                    </a:p>
                  </a:txBody>
                  <a:tcPr>
                    <a:solidFill>
                      <a:srgbClr val="F2F6FC"/>
                    </a:solidFill>
                  </a:tcPr>
                </a:tc>
                <a:tc>
                  <a:txBody>
                    <a:bodyPr wrap="none"/>
                    <a:lstStyle/>
                    <a:p>
                      <a:pPr algn="ctr"/>
                      <a:r>
                        <a:rPr sz="1000" b="0">
                          <a:solidFill>
                            <a:srgbClr val="1A1A1A"/>
                          </a:solidFill>
                        </a:rPr>
                        <a:t>14121</a:t>
                      </a:r>
                    </a:p>
                  </a:txBody>
                  <a:tcPr>
                    <a:solidFill>
                      <a:srgbClr val="F2F6FC"/>
                    </a:solidFill>
                  </a:tcPr>
                </a:tc>
              </a:tr>
              <a:tr h="292608">
                <a:tc>
                  <a:txBody>
                    <a:bodyPr wrap="none"/>
                    <a:lstStyle/>
                    <a:p>
                      <a:pPr algn="ctr"/>
                      <a:r>
                        <a:rPr sz="1000" b="0">
                          <a:solidFill>
                            <a:srgbClr val="1A1A1A"/>
                          </a:solidFill>
                        </a:rPr>
                        <a:t>Recovered within 200ms</a:t>
                      </a:r>
                    </a:p>
                  </a:txBody>
                  <a:tcPr>
                    <a:solidFill>
                      <a:srgbClr val="FFFFFF"/>
                    </a:solidFill>
                  </a:tcPr>
                </a:tc>
                <a:tc>
                  <a:txBody>
                    <a:bodyPr wrap="none"/>
                    <a:lstStyle/>
                    <a:p>
                      <a:pPr algn="ctr"/>
                      <a:r>
                        <a:rPr sz="1000" b="0">
                          <a:solidFill>
                            <a:srgbClr val="1A1A1A"/>
                          </a:solidFill>
                        </a:rPr>
                        <a:t>54.1% (8885 measured, 5236 censored)</a:t>
                      </a:r>
                    </a:p>
                  </a:txBody>
                  <a:tcPr>
                    <a:solidFill>
                      <a:srgbClr val="FFFFFF"/>
                    </a:solidFill>
                  </a:tcPr>
                </a:tc>
              </a:tr>
              <a:tr h="292608">
                <a:tc>
                  <a:txBody>
                    <a:bodyPr wrap="none"/>
                    <a:lstStyle/>
                    <a:p>
                      <a:pPr algn="ctr"/>
                      <a:r>
                        <a:rPr sz="1000" b="0">
                          <a:solidFill>
                            <a:srgbClr val="1A1A1A"/>
                          </a:solidFill>
                        </a:rPr>
                        <a:t>Median / P90 measured interruption</a:t>
                      </a:r>
                    </a:p>
                  </a:txBody>
                  <a:tcPr>
                    <a:solidFill>
                      <a:srgbClr val="F2F6FC"/>
                    </a:solidFill>
                  </a:tcPr>
                </a:tc>
                <a:tc>
                  <a:txBody>
                    <a:bodyPr wrap="none"/>
                    <a:lstStyle/>
                    <a:p>
                      <a:pPr algn="ctr"/>
                      <a:r>
                        <a:rPr sz="1000" b="0">
                          <a:solidFill>
                            <a:srgbClr val="1A1A1A"/>
                          </a:solidFill>
                        </a:rPr>
                        <a:t>50 ms / 462 ms</a:t>
                      </a:r>
                    </a:p>
                  </a:txBody>
                  <a:tcPr>
                    <a:solidFill>
                      <a:srgbClr val="F2F6FC"/>
                    </a:solidFill>
                  </a:tcPr>
                </a:tc>
              </a:tr>
              <a:tr h="292608">
                <a:tc>
                  <a:txBody>
                    <a:bodyPr wrap="none"/>
                    <a:lstStyle/>
                    <a:p>
                      <a:pPr algn="ctr"/>
                      <a:r>
                        <a:rPr sz="1000" b="0">
                          <a:solidFill>
                            <a:srgbClr val="1A1A1A"/>
                          </a:solidFill>
                        </a:rPr>
                        <a:t>Control restored within ±1s (§3.3 continuity)</a:t>
                      </a:r>
                    </a:p>
                  </a:txBody>
                  <a:tcPr>
                    <a:solidFill>
                      <a:srgbClr val="FFFFFF"/>
                    </a:solidFill>
                  </a:tcPr>
                </a:tc>
                <a:tc>
                  <a:txBody>
                    <a:bodyPr wrap="none"/>
                    <a:lstStyle/>
                    <a:p>
                      <a:pPr algn="ctr"/>
                      <a:r>
                        <a:rPr sz="1000" b="0">
                          <a:solidFill>
                            <a:srgbClr val="1A1A1A"/>
                          </a:solidFill>
                        </a:rPr>
                        <a:t>78.5% of 14121 events</a:t>
                      </a:r>
                    </a:p>
                  </a:txBody>
                  <a:tcPr>
                    <a:solidFill>
                      <a:srgbClr val="FFFFFF"/>
                    </a:solidFill>
                  </a:tcPr>
                </a:tc>
              </a:tr>
            </a:tbl>
          </a:graphicData>
        </a:graphic>
      </p:graphicFrame>
      <p:sp>
        <p:nvSpPr>
          <p:cNvPr id="8" name="TextBox 7"/>
          <p:cNvSpPr txBox="1"/>
          <p:nvPr/>
        </p:nvSpPr>
        <p:spPr>
          <a:xfrm>
            <a:off x="228600" y="3108960"/>
            <a:ext cx="6035040" cy="1645920"/>
          </a:xfrm>
          <a:prstGeom prst="rect">
            <a:avLst/>
          </a:prstGeom>
          <a:noFill/>
        </p:spPr>
        <p:txBody>
          <a:bodyPr wrap="square">
            <a:spAutoFit/>
          </a:bodyPr>
          <a:lstStyle/>
          <a:p>
            <a:pPr algn="l"/>
            <a:r>
              <a:rPr sz="1300" b="0" i="1">
                <a:solidFill>
                  <a:srgbClr val="1A1A1A"/>
                </a:solidFill>
              </a:rPr>
              <a:t>Switching transients are not what cost the Control flow its packets — sustained primary-path outages between switches are. The scenario's 5s wait ceiling censors 37.1% of interruption samples, so the upper tail of the recovery-time distribution isn't fully observable from this campaign.</a:t>
            </a:r>
          </a:p>
        </p:txBody>
      </p:sp>
      <p:pic>
        <p:nvPicPr>
          <p:cNvPr id="9" name="Picture 8" descr="fig14_interruption_ecdf.png"/>
          <p:cNvPicPr>
            <a:picLocks noChangeAspect="1"/>
          </p:cNvPicPr>
          <p:nvPr/>
        </p:nvPicPr>
        <p:blipFill>
          <a:blip r:embed="rId2"/>
          <a:stretch>
            <a:fillRect/>
          </a:stretch>
        </p:blipFill>
        <p:spPr>
          <a:xfrm>
            <a:off x="6355080" y="1188720"/>
            <a:ext cx="5623560" cy="5257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515600" cy="594360"/>
          </a:xfrm>
          <a:prstGeom prst="rect">
            <a:avLst/>
          </a:prstGeom>
          <a:noFill/>
        </p:spPr>
        <p:txBody>
          <a:bodyPr wrap="square">
            <a:spAutoFit/>
          </a:bodyPr>
          <a:lstStyle/>
          <a:p>
            <a:pPr algn="l"/>
            <a:r>
              <a:rPr sz="2600" b="1" i="0">
                <a:solidFill>
                  <a:srgbClr val="FFFFFF"/>
                </a:solidFill>
              </a:rPr>
              <a:t>3.  Per-Flow QoS Summary (All Runs)</a:t>
            </a:r>
          </a:p>
        </p:txBody>
      </p:sp>
      <p:sp>
        <p:nvSpPr>
          <p:cNvPr id="4" name="TextBox 3"/>
          <p:cNvSpPr txBox="1"/>
          <p:nvPr/>
        </p:nvSpPr>
        <p:spPr>
          <a:xfrm>
            <a:off x="274320" y="658368"/>
            <a:ext cx="11430000" cy="347472"/>
          </a:xfrm>
          <a:prstGeom prst="rect">
            <a:avLst/>
          </a:prstGeom>
          <a:noFill/>
        </p:spPr>
        <p:txBody>
          <a:bodyPr wrap="square">
            <a:spAutoFit/>
          </a:bodyPr>
          <a:lstStyle/>
          <a:p>
            <a:pPr algn="l"/>
            <a:r>
              <a:rPr sz="1400" b="0" i="0">
                <a:solidFill>
                  <a:srgbClr val="BBD3F0"/>
                </a:solidFill>
              </a:rPr>
              <a:t>Blended across WiFi and cellular legs — see slide 1 for the leg split that matters for Control</a:t>
            </a:r>
          </a:p>
        </p:txBody>
      </p:sp>
      <p:sp>
        <p:nvSpPr>
          <p:cNvPr id="5" name="Rectangle 4"/>
          <p:cNvSpPr/>
          <p:nvPr/>
        </p:nvSpPr>
        <p:spPr>
          <a:xfrm>
            <a:off x="0" y="6565392"/>
            <a:ext cx="12188952" cy="29260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74536"/>
            <a:ext cx="8229600" cy="256032"/>
          </a:xfrm>
          <a:prstGeom prst="rect">
            <a:avLst/>
          </a:prstGeom>
          <a:noFill/>
        </p:spPr>
        <p:txBody>
          <a:bodyPr wrap="square">
            <a:spAutoFit/>
          </a:bodyPr>
          <a:lstStyle/>
          <a:p>
            <a:pPr algn="l"/>
            <a:r>
              <a:rPr sz="900" b="0" i="0">
                <a:solidFill>
                  <a:srgbClr val="BBD3F0"/>
                </a:solidFill>
              </a:rPr>
              <a:t>Sheikh Sayed Bin Rahman  |  PIC Lab, Kyushu Institute of Technology (KIT)  |  2026</a:t>
            </a:r>
          </a:p>
        </p:txBody>
      </p:sp>
      <p:graphicFrame>
        <p:nvGraphicFramePr>
          <p:cNvPr id="7" name="Table 6"/>
          <p:cNvGraphicFramePr>
            <a:graphicFrameLocks noGrp="1"/>
          </p:cNvGraphicFramePr>
          <p:nvPr/>
        </p:nvGraphicFramePr>
        <p:xfrm>
          <a:off x="228600" y="1188720"/>
          <a:ext cx="7772400" cy="1170432"/>
        </p:xfrm>
        <a:graphic>
          <a:graphicData uri="http://schemas.openxmlformats.org/drawingml/2006/table">
            <a:tbl>
              <a:tblPr firstRow="1" bandRow="1">
                <a:tableStyleId>{5C22544A-7EE6-4342-B048-85BDC9FD1C3A}</a:tableStyleId>
              </a:tblPr>
              <a:tblGrid>
                <a:gridCol w="1188720"/>
                <a:gridCol w="1097280"/>
                <a:gridCol w="1097280"/>
                <a:gridCol w="1371600"/>
                <a:gridCol w="1371600"/>
                <a:gridCol w="1645920"/>
              </a:tblGrid>
              <a:tr h="292608">
                <a:tc>
                  <a:txBody>
                    <a:bodyPr wrap="none"/>
                    <a:lstStyle/>
                    <a:p>
                      <a:pPr algn="ctr"/>
                      <a:r>
                        <a:rPr sz="1100" b="1">
                          <a:solidFill>
                            <a:srgbClr val="FFFFFF"/>
                          </a:solidFill>
                        </a:rPr>
                        <a:t>Flow</a:t>
                      </a:r>
                    </a:p>
                  </a:txBody>
                  <a:tcPr>
                    <a:solidFill>
                      <a:srgbClr val="2E75B6"/>
                    </a:solidFill>
                  </a:tcPr>
                </a:tc>
                <a:tc>
                  <a:txBody>
                    <a:bodyPr wrap="none"/>
                    <a:lstStyle/>
                    <a:p>
                      <a:pPr algn="ctr"/>
                      <a:r>
                        <a:rPr sz="1100" b="1">
                          <a:solidFill>
                            <a:srgbClr val="FFFFFF"/>
                          </a:solidFill>
                        </a:rPr>
                        <a:t>PDR</a:t>
                      </a:r>
                    </a:p>
                  </a:txBody>
                  <a:tcPr>
                    <a:solidFill>
                      <a:srgbClr val="2E75B6"/>
                    </a:solidFill>
                  </a:tcPr>
                </a:tc>
                <a:tc>
                  <a:txBody>
                    <a:bodyPr wrap="none"/>
                    <a:lstStyle/>
                    <a:p>
                      <a:pPr algn="ctr"/>
                      <a:r>
                        <a:rPr sz="1100" b="1">
                          <a:solidFill>
                            <a:srgbClr val="FFFFFF"/>
                          </a:solidFill>
                        </a:rPr>
                        <a:t>Loss</a:t>
                      </a:r>
                    </a:p>
                  </a:txBody>
                  <a:tcPr>
                    <a:solidFill>
                      <a:srgbClr val="2E75B6"/>
                    </a:solidFill>
                  </a:tcPr>
                </a:tc>
                <a:tc>
                  <a:txBody>
                    <a:bodyPr wrap="none"/>
                    <a:lstStyle/>
                    <a:p>
                      <a:pPr algn="ctr"/>
                      <a:r>
                        <a:rPr sz="1100" b="1">
                          <a:solidFill>
                            <a:srgbClr val="FFFFFF"/>
                          </a:solidFill>
                        </a:rPr>
                        <a:t>P99 delay</a:t>
                      </a:r>
                    </a:p>
                  </a:txBody>
                  <a:tcPr>
                    <a:solidFill>
                      <a:srgbClr val="2E75B6"/>
                    </a:solidFill>
                  </a:tcPr>
                </a:tc>
                <a:tc>
                  <a:txBody>
                    <a:bodyPr wrap="none"/>
                    <a:lstStyle/>
                    <a:p>
                      <a:pPr algn="ctr"/>
                      <a:r>
                        <a:rPr sz="1100" b="1">
                          <a:solidFill>
                            <a:srgbClr val="FFFFFF"/>
                          </a:solidFill>
                        </a:rPr>
                        <a:t>Tput share</a:t>
                      </a:r>
                    </a:p>
                  </a:txBody>
                  <a:tcPr>
                    <a:solidFill>
                      <a:srgbClr val="2E75B6"/>
                    </a:solidFill>
                  </a:tcPr>
                </a:tc>
                <a:tc>
                  <a:txBody>
                    <a:bodyPr wrap="none"/>
                    <a:lstStyle/>
                    <a:p>
                      <a:pPr algn="ctr"/>
                      <a:r>
                        <a:rPr sz="1100" b="1">
                          <a:solidFill>
                            <a:srgbClr val="FFFFFF"/>
                          </a:solidFill>
                        </a:rPr>
                        <a:t>Target</a:t>
                      </a:r>
                    </a:p>
                  </a:txBody>
                  <a:tcPr>
                    <a:solidFill>
                      <a:srgbClr val="2E75B6"/>
                    </a:solidFill>
                  </a:tcPr>
                </a:tc>
              </a:tr>
              <a:tr h="292608">
                <a:tc>
                  <a:txBody>
                    <a:bodyPr wrap="none"/>
                    <a:lstStyle/>
                    <a:p>
                      <a:pPr algn="ctr"/>
                      <a:r>
                        <a:rPr sz="1000" b="0">
                          <a:solidFill>
                            <a:srgbClr val="1A1A1A"/>
                          </a:solidFill>
                        </a:rPr>
                        <a:t>Control</a:t>
                      </a:r>
                    </a:p>
                  </a:txBody>
                  <a:tcPr>
                    <a:solidFill>
                      <a:srgbClr val="F2F6FC"/>
                    </a:solidFill>
                  </a:tcPr>
                </a:tc>
                <a:tc>
                  <a:txBody>
                    <a:bodyPr wrap="none"/>
                    <a:lstStyle/>
                    <a:p>
                      <a:pPr algn="ctr"/>
                      <a:r>
                        <a:rPr sz="1000" b="0">
                          <a:solidFill>
                            <a:srgbClr val="1A1A1A"/>
                          </a:solidFill>
                        </a:rPr>
                        <a:t>67.7%</a:t>
                      </a:r>
                    </a:p>
                  </a:txBody>
                  <a:tcPr>
                    <a:solidFill>
                      <a:srgbClr val="F2F6FC"/>
                    </a:solidFill>
                  </a:tcPr>
                </a:tc>
                <a:tc>
                  <a:txBody>
                    <a:bodyPr wrap="none"/>
                    <a:lstStyle/>
                    <a:p>
                      <a:pPr algn="ctr"/>
                      <a:r>
                        <a:rPr sz="1000" b="0">
                          <a:solidFill>
                            <a:srgbClr val="1A1A1A"/>
                          </a:solidFill>
                        </a:rPr>
                        <a:t>32.25%</a:t>
                      </a:r>
                    </a:p>
                  </a:txBody>
                  <a:tcPr>
                    <a:solidFill>
                      <a:srgbClr val="F2F6FC"/>
                    </a:solidFill>
                  </a:tcPr>
                </a:tc>
                <a:tc>
                  <a:txBody>
                    <a:bodyPr wrap="none"/>
                    <a:lstStyle/>
                    <a:p>
                      <a:pPr algn="ctr"/>
                      <a:r>
                        <a:rPr sz="1000" b="0">
                          <a:solidFill>
                            <a:srgbClr val="1A1A1A"/>
                          </a:solidFill>
                        </a:rPr>
                        <a:t>310.5 ms</a:t>
                      </a:r>
                    </a:p>
                  </a:txBody>
                  <a:tcPr>
                    <a:solidFill>
                      <a:srgbClr val="F2F6FC"/>
                    </a:solidFill>
                  </a:tcPr>
                </a:tc>
                <a:tc>
                  <a:txBody>
                    <a:bodyPr wrap="none"/>
                    <a:lstStyle/>
                    <a:p>
                      <a:pPr algn="ctr"/>
                      <a:r>
                        <a:rPr sz="1000" b="0">
                          <a:solidFill>
                            <a:srgbClr val="1A1A1A"/>
                          </a:solidFill>
                        </a:rPr>
                        <a:t>8.6%</a:t>
                      </a:r>
                    </a:p>
                  </a:txBody>
                  <a:tcPr>
                    <a:solidFill>
                      <a:srgbClr val="F2F6FC"/>
                    </a:solidFill>
                  </a:tcPr>
                </a:tc>
                <a:tc>
                  <a:txBody>
                    <a:bodyPr wrap="none"/>
                    <a:lstStyle/>
                    <a:p>
                      <a:pPr algn="ctr"/>
                      <a:r>
                        <a:rPr sz="1000" b="0">
                          <a:solidFill>
                            <a:srgbClr val="1A1A1A"/>
                          </a:solidFill>
                        </a:rPr>
                        <a:t>≤50ms, &lt;0% loss</a:t>
                      </a:r>
                    </a:p>
                  </a:txBody>
                  <a:tcPr>
                    <a:solidFill>
                      <a:srgbClr val="F2F6FC"/>
                    </a:solidFill>
                  </a:tcPr>
                </a:tc>
              </a:tr>
              <a:tr h="292608">
                <a:tc>
                  <a:txBody>
                    <a:bodyPr wrap="none"/>
                    <a:lstStyle/>
                    <a:p>
                      <a:pPr algn="ctr"/>
                      <a:r>
                        <a:rPr sz="1000" b="0">
                          <a:solidFill>
                            <a:srgbClr val="1A1A1A"/>
                          </a:solidFill>
                        </a:rPr>
                        <a:t>Sensor</a:t>
                      </a:r>
                    </a:p>
                  </a:txBody>
                  <a:tcPr>
                    <a:solidFill>
                      <a:srgbClr val="FFFFFF"/>
                    </a:solidFill>
                  </a:tcPr>
                </a:tc>
                <a:tc>
                  <a:txBody>
                    <a:bodyPr wrap="none"/>
                    <a:lstStyle/>
                    <a:p>
                      <a:pPr algn="ctr"/>
                      <a:r>
                        <a:rPr sz="1000" b="0">
                          <a:solidFill>
                            <a:srgbClr val="1A1A1A"/>
                          </a:solidFill>
                        </a:rPr>
                        <a:t>97.4%</a:t>
                      </a:r>
                    </a:p>
                  </a:txBody>
                  <a:tcPr>
                    <a:solidFill>
                      <a:srgbClr val="FFFFFF"/>
                    </a:solidFill>
                  </a:tcPr>
                </a:tc>
                <a:tc>
                  <a:txBody>
                    <a:bodyPr wrap="none"/>
                    <a:lstStyle/>
                    <a:p>
                      <a:pPr algn="ctr"/>
                      <a:r>
                        <a:rPr sz="1000" b="0">
                          <a:solidFill>
                            <a:srgbClr val="1A1A1A"/>
                          </a:solidFill>
                        </a:rPr>
                        <a:t>2.61%</a:t>
                      </a:r>
                    </a:p>
                  </a:txBody>
                  <a:tcPr>
                    <a:solidFill>
                      <a:srgbClr val="FFFFFF"/>
                    </a:solidFill>
                  </a:tcPr>
                </a:tc>
                <a:tc>
                  <a:txBody>
                    <a:bodyPr wrap="none"/>
                    <a:lstStyle/>
                    <a:p>
                      <a:pPr algn="ctr"/>
                      <a:r>
                        <a:rPr sz="1000" b="0">
                          <a:solidFill>
                            <a:srgbClr val="1A1A1A"/>
                          </a:solidFill>
                        </a:rPr>
                        <a:t>204.5 ms</a:t>
                      </a:r>
                    </a:p>
                  </a:txBody>
                  <a:tcPr>
                    <a:solidFill>
                      <a:srgbClr val="FFFFFF"/>
                    </a:solidFill>
                  </a:tcPr>
                </a:tc>
                <a:tc>
                  <a:txBody>
                    <a:bodyPr wrap="none"/>
                    <a:lstStyle/>
                    <a:p>
                      <a:pPr algn="ctr"/>
                      <a:r>
                        <a:rPr sz="1000" b="0">
                          <a:solidFill>
                            <a:srgbClr val="1A1A1A"/>
                          </a:solidFill>
                        </a:rPr>
                        <a:t>40.4%</a:t>
                      </a:r>
                    </a:p>
                  </a:txBody>
                  <a:tcPr>
                    <a:solidFill>
                      <a:srgbClr val="FFFFFF"/>
                    </a:solidFill>
                  </a:tcPr>
                </a:tc>
                <a:tc>
                  <a:txBody>
                    <a:bodyPr wrap="none"/>
                    <a:lstStyle/>
                    <a:p>
                      <a:pPr algn="ctr"/>
                      <a:r>
                        <a:rPr sz="1000" b="0">
                          <a:solidFill>
                            <a:srgbClr val="1A1A1A"/>
                          </a:solidFill>
                        </a:rPr>
                        <a:t>≤200ms, &lt;5% loss</a:t>
                      </a:r>
                    </a:p>
                  </a:txBody>
                  <a:tcPr>
                    <a:solidFill>
                      <a:srgbClr val="FFFFFF"/>
                    </a:solidFill>
                  </a:tcPr>
                </a:tc>
              </a:tr>
              <a:tr h="292608">
                <a:tc>
                  <a:txBody>
                    <a:bodyPr wrap="none"/>
                    <a:lstStyle/>
                    <a:p>
                      <a:pPr algn="ctr"/>
                      <a:r>
                        <a:rPr sz="1000" b="0">
                          <a:solidFill>
                            <a:srgbClr val="1A1A1A"/>
                          </a:solidFill>
                        </a:rPr>
                        <a:t>Video</a:t>
                      </a:r>
                    </a:p>
                  </a:txBody>
                  <a:tcPr>
                    <a:solidFill>
                      <a:srgbClr val="F2F6FC"/>
                    </a:solidFill>
                  </a:tcPr>
                </a:tc>
                <a:tc>
                  <a:txBody>
                    <a:bodyPr wrap="none"/>
                    <a:lstStyle/>
                    <a:p>
                      <a:pPr algn="ctr"/>
                      <a:r>
                        <a:rPr sz="1000" b="0">
                          <a:solidFill>
                            <a:srgbClr val="1A1A1A"/>
                          </a:solidFill>
                        </a:rPr>
                        <a:t>97.8%</a:t>
                      </a:r>
                    </a:p>
                  </a:txBody>
                  <a:tcPr>
                    <a:solidFill>
                      <a:srgbClr val="F2F6FC"/>
                    </a:solidFill>
                  </a:tcPr>
                </a:tc>
                <a:tc>
                  <a:txBody>
                    <a:bodyPr wrap="none"/>
                    <a:lstStyle/>
                    <a:p>
                      <a:pPr algn="ctr"/>
                      <a:r>
                        <a:rPr sz="1000" b="0">
                          <a:solidFill>
                            <a:srgbClr val="1A1A1A"/>
                          </a:solidFill>
                        </a:rPr>
                        <a:t>2.16%</a:t>
                      </a:r>
                    </a:p>
                  </a:txBody>
                  <a:tcPr>
                    <a:solidFill>
                      <a:srgbClr val="F2F6FC"/>
                    </a:solidFill>
                  </a:tcPr>
                </a:tc>
                <a:tc>
                  <a:txBody>
                    <a:bodyPr wrap="none"/>
                    <a:lstStyle/>
                    <a:p>
                      <a:pPr algn="ctr"/>
                      <a:r>
                        <a:rPr sz="1000" b="0">
                          <a:solidFill>
                            <a:srgbClr val="1A1A1A"/>
                          </a:solidFill>
                        </a:rPr>
                        <a:t>158.9 ms</a:t>
                      </a:r>
                    </a:p>
                  </a:txBody>
                  <a:tcPr>
                    <a:solidFill>
                      <a:srgbClr val="F2F6FC"/>
                    </a:solidFill>
                  </a:tcPr>
                </a:tc>
                <a:tc>
                  <a:txBody>
                    <a:bodyPr wrap="none"/>
                    <a:lstStyle/>
                    <a:p>
                      <a:pPr algn="ctr"/>
                      <a:r>
                        <a:rPr sz="1000" b="0">
                          <a:solidFill>
                            <a:srgbClr val="1A1A1A"/>
                          </a:solidFill>
                        </a:rPr>
                        <a:t>51.1%</a:t>
                      </a:r>
                    </a:p>
                  </a:txBody>
                  <a:tcPr>
                    <a:solidFill>
                      <a:srgbClr val="F2F6FC"/>
                    </a:solidFill>
                  </a:tcPr>
                </a:tc>
                <a:tc>
                  <a:txBody>
                    <a:bodyPr wrap="none"/>
                    <a:lstStyle/>
                    <a:p>
                      <a:pPr algn="ctr"/>
                      <a:r>
                        <a:rPr sz="1000" b="0">
                          <a:solidFill>
                            <a:srgbClr val="1A1A1A"/>
                          </a:solidFill>
                        </a:rPr>
                        <a:t>≤500ms, &lt;10% loss</a:t>
                      </a:r>
                    </a:p>
                  </a:txBody>
                  <a:tcPr>
                    <a:solidFill>
                      <a:srgbClr val="F2F6FC"/>
                    </a:solidFill>
                  </a:tcPr>
                </a:tc>
              </a:tr>
            </a:tbl>
          </a:graphicData>
        </a:graphic>
      </p:graphicFrame>
      <p:sp>
        <p:nvSpPr>
          <p:cNvPr id="8" name="TextBox 7"/>
          <p:cNvSpPr txBox="1"/>
          <p:nvPr/>
        </p:nvSpPr>
        <p:spPr>
          <a:xfrm>
            <a:off x="228600" y="2834640"/>
            <a:ext cx="7772400" cy="1371600"/>
          </a:xfrm>
          <a:prstGeom prst="rect">
            <a:avLst/>
          </a:prstGeom>
          <a:noFill/>
        </p:spPr>
        <p:txBody>
          <a:bodyPr wrap="square">
            <a:spAutoFit/>
          </a:bodyPr>
          <a:lstStyle/>
          <a:p>
            <a:pPr algn="l"/>
            <a:r>
              <a:rPr sz="1200" b="0" i="1">
                <a:solidFill>
                  <a:srgbClr val="8A4B08"/>
                </a:solidFill>
              </a:rPr>
              <a:t>Caveat: Sensor and Video PDR (~97%) overstates primary-path availability — both are TCP flows whose sockets never migrate to the cellular leg. TCP retransmission turns an outage into reduced throughput rather than recorded loss, so they can't be used to judge path health the way Control (UDP) can.</a:t>
            </a:r>
          </a:p>
        </p:txBody>
      </p:sp>
      <p:pic>
        <p:nvPicPr>
          <p:cNvPr id="9" name="Picture 8" descr="fig03_per_flow_pdr_grouped.png"/>
          <p:cNvPicPr>
            <a:picLocks noChangeAspect="1"/>
          </p:cNvPicPr>
          <p:nvPr/>
        </p:nvPicPr>
        <p:blipFill>
          <a:blip r:embed="rId2"/>
          <a:stretch>
            <a:fillRect/>
          </a:stretch>
        </p:blipFill>
        <p:spPr>
          <a:xfrm>
            <a:off x="8229600" y="1188720"/>
            <a:ext cx="3749039" cy="51206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515600" cy="594360"/>
          </a:xfrm>
          <a:prstGeom prst="rect">
            <a:avLst/>
          </a:prstGeom>
          <a:noFill/>
        </p:spPr>
        <p:txBody>
          <a:bodyPr wrap="square">
            <a:spAutoFit/>
          </a:bodyPr>
          <a:lstStyle/>
          <a:p>
            <a:pPr algn="l"/>
            <a:r>
              <a:rPr sz="2600" b="1" i="0">
                <a:solidFill>
                  <a:srgbClr val="FFFFFF"/>
                </a:solidFill>
              </a:rPr>
              <a:t>4.  Control PDR Sensitivity: STA Count &amp; Payload</a:t>
            </a:r>
          </a:p>
        </p:txBody>
      </p:sp>
      <p:sp>
        <p:nvSpPr>
          <p:cNvPr id="4" name="TextBox 3"/>
          <p:cNvSpPr txBox="1"/>
          <p:nvPr/>
        </p:nvSpPr>
        <p:spPr>
          <a:xfrm>
            <a:off x="274320" y="658368"/>
            <a:ext cx="11430000" cy="347472"/>
          </a:xfrm>
          <a:prstGeom prst="rect">
            <a:avLst/>
          </a:prstGeom>
          <a:noFill/>
        </p:spPr>
        <p:txBody>
          <a:bodyPr wrap="square">
            <a:spAutoFit/>
          </a:bodyPr>
          <a:lstStyle/>
          <a:p>
            <a:pPr algn="l"/>
            <a:r>
              <a:rPr sz="1400" b="0" i="0">
                <a:solidFill>
                  <a:srgbClr val="BBD3F0"/>
                </a:solidFill>
              </a:rPr>
              <a:t>New this campaign — full factorial sweep vs. the single representative run in earlier progress decks</a:t>
            </a:r>
          </a:p>
        </p:txBody>
      </p:sp>
      <p:pic>
        <p:nvPicPr>
          <p:cNvPr id="5" name="Picture 4" descr="fig05_control_pdr_vs_sta.png"/>
          <p:cNvPicPr>
            <a:picLocks noChangeAspect="1"/>
          </p:cNvPicPr>
          <p:nvPr/>
        </p:nvPicPr>
        <p:blipFill>
          <a:blip r:embed="rId2"/>
          <a:stretch>
            <a:fillRect/>
          </a:stretch>
        </p:blipFill>
        <p:spPr>
          <a:xfrm>
            <a:off x="274320" y="1188720"/>
            <a:ext cx="5760720" cy="5120640"/>
          </a:xfrm>
          <a:prstGeom prst="rect">
            <a:avLst/>
          </a:prstGeom>
        </p:spPr>
      </p:pic>
      <p:pic>
        <p:nvPicPr>
          <p:cNvPr id="6" name="Picture 5" descr="fig06_control_pdr_vs_payload.png"/>
          <p:cNvPicPr>
            <a:picLocks noChangeAspect="1"/>
          </p:cNvPicPr>
          <p:nvPr/>
        </p:nvPicPr>
        <p:blipFill>
          <a:blip r:embed="rId3"/>
          <a:stretch>
            <a:fillRect/>
          </a:stretch>
        </p:blipFill>
        <p:spPr>
          <a:xfrm>
            <a:off x="6126480" y="1188720"/>
            <a:ext cx="5760720" cy="5120640"/>
          </a:xfrm>
          <a:prstGeom prst="rect">
            <a:avLst/>
          </a:prstGeom>
        </p:spPr>
      </p:pic>
      <p:sp>
        <p:nvSpPr>
          <p:cNvPr id="7" name="Rectangle 6"/>
          <p:cNvSpPr/>
          <p:nvPr/>
        </p:nvSpPr>
        <p:spPr>
          <a:xfrm>
            <a:off x="0" y="6565392"/>
            <a:ext cx="12188952" cy="29260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8229600" cy="256032"/>
          </a:xfrm>
          <a:prstGeom prst="rect">
            <a:avLst/>
          </a:prstGeom>
          <a:noFill/>
        </p:spPr>
        <p:txBody>
          <a:bodyPr wrap="square">
            <a:spAutoFit/>
          </a:bodyPr>
          <a:lstStyle/>
          <a:p>
            <a:pPr algn="l"/>
            <a:r>
              <a:rPr sz="900" b="0" i="0">
                <a:solidFill>
                  <a:srgbClr val="BBD3F0"/>
                </a:solidFill>
              </a:rPr>
              <a:t>Sheikh Sayed Bin Rahman  |  PIC Lab, Kyushu Institute of Technology (KIT)  |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515600" cy="594360"/>
          </a:xfrm>
          <a:prstGeom prst="rect">
            <a:avLst/>
          </a:prstGeom>
          <a:noFill/>
        </p:spPr>
        <p:txBody>
          <a:bodyPr wrap="square">
            <a:spAutoFit/>
          </a:bodyPr>
          <a:lstStyle/>
          <a:p>
            <a:pPr algn="l"/>
            <a:r>
              <a:rPr sz="2600" b="1" i="0">
                <a:solidFill>
                  <a:srgbClr val="FFFFFF"/>
                </a:solidFill>
              </a:rPr>
              <a:t>5.  Compliance with the Enhancement Plan (§3)</a:t>
            </a:r>
          </a:p>
        </p:txBody>
      </p:sp>
      <p:sp>
        <p:nvSpPr>
          <p:cNvPr id="4" name="TextBox 3"/>
          <p:cNvSpPr txBox="1"/>
          <p:nvPr/>
        </p:nvSpPr>
        <p:spPr>
          <a:xfrm>
            <a:off x="274320" y="658368"/>
            <a:ext cx="11430000" cy="347472"/>
          </a:xfrm>
          <a:prstGeom prst="rect">
            <a:avLst/>
          </a:prstGeom>
          <a:noFill/>
        </p:spPr>
        <p:txBody>
          <a:bodyPr wrap="square">
            <a:spAutoFit/>
          </a:bodyPr>
          <a:lstStyle/>
          <a:p>
            <a:pPr algn="l"/>
            <a:r>
              <a:rPr sz="1400" b="0" i="0">
                <a:solidFill>
                  <a:srgbClr val="BBD3F0"/>
                </a:solidFill>
              </a:rPr>
              <a:t>Named deviations from traffic_qos_report.md §9 — disclosed, not hidden</a:t>
            </a:r>
          </a:p>
        </p:txBody>
      </p:sp>
      <p:sp>
        <p:nvSpPr>
          <p:cNvPr id="5" name="Rectangle 4"/>
          <p:cNvSpPr/>
          <p:nvPr/>
        </p:nvSpPr>
        <p:spPr>
          <a:xfrm>
            <a:off x="0" y="6565392"/>
            <a:ext cx="12188952" cy="29260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74536"/>
            <a:ext cx="8229600" cy="256032"/>
          </a:xfrm>
          <a:prstGeom prst="rect">
            <a:avLst/>
          </a:prstGeom>
          <a:noFill/>
        </p:spPr>
        <p:txBody>
          <a:bodyPr wrap="square">
            <a:spAutoFit/>
          </a:bodyPr>
          <a:lstStyle/>
          <a:p>
            <a:pPr algn="l"/>
            <a:r>
              <a:rPr sz="900" b="0" i="0">
                <a:solidFill>
                  <a:srgbClr val="BBD3F0"/>
                </a:solidFill>
              </a:rPr>
              <a:t>Sheikh Sayed Bin Rahman  |  PIC Lab, Kyushu Institute of Technology (KIT)  |  2026</a:t>
            </a:r>
          </a:p>
        </p:txBody>
      </p:sp>
      <p:graphicFrame>
        <p:nvGraphicFramePr>
          <p:cNvPr id="7" name="Table 6"/>
          <p:cNvGraphicFramePr>
            <a:graphicFrameLocks noGrp="1"/>
          </p:cNvGraphicFramePr>
          <p:nvPr/>
        </p:nvGraphicFramePr>
        <p:xfrm>
          <a:off x="228600" y="1188720"/>
          <a:ext cx="11704320" cy="2048256"/>
        </p:xfrm>
        <a:graphic>
          <a:graphicData uri="http://schemas.openxmlformats.org/drawingml/2006/table">
            <a:tbl>
              <a:tblPr firstRow="1" bandRow="1">
                <a:tableStyleId>{5C22544A-7EE6-4342-B048-85BDC9FD1C3A}</a:tableStyleId>
              </a:tblPr>
              <a:tblGrid>
                <a:gridCol w="3291840"/>
                <a:gridCol w="1463040"/>
                <a:gridCol w="6949440"/>
              </a:tblGrid>
              <a:tr h="292608">
                <a:tc>
                  <a:txBody>
                    <a:bodyPr wrap="none"/>
                    <a:lstStyle/>
                    <a:p>
                      <a:pPr algn="ctr"/>
                      <a:r>
                        <a:rPr sz="1100" b="1">
                          <a:solidFill>
                            <a:srgbClr val="FFFFFF"/>
                          </a:solidFill>
                        </a:rPr>
                        <a:t>Requirement</a:t>
                      </a:r>
                    </a:p>
                  </a:txBody>
                  <a:tcPr>
                    <a:solidFill>
                      <a:srgbClr val="2E75B6"/>
                    </a:solidFill>
                  </a:tcPr>
                </a:tc>
                <a:tc>
                  <a:txBody>
                    <a:bodyPr wrap="none"/>
                    <a:lstStyle/>
                    <a:p>
                      <a:pPr algn="ctr"/>
                      <a:r>
                        <a:rPr sz="1100" b="1">
                          <a:solidFill>
                            <a:srgbClr val="FFFFFF"/>
                          </a:solidFill>
                        </a:rPr>
                        <a:t>Status</a:t>
                      </a:r>
                    </a:p>
                  </a:txBody>
                  <a:tcPr>
                    <a:solidFill>
                      <a:srgbClr val="2E75B6"/>
                    </a:solidFill>
                  </a:tcPr>
                </a:tc>
                <a:tc>
                  <a:txBody>
                    <a:bodyPr wrap="none"/>
                    <a:lstStyle/>
                    <a:p>
                      <a:pPr algn="ctr"/>
                      <a:r>
                        <a:rPr sz="1100" b="1">
                          <a:solidFill>
                            <a:srgbClr val="FFFFFF"/>
                          </a:solidFill>
                        </a:rPr>
                        <a:t>Note</a:t>
                      </a:r>
                    </a:p>
                  </a:txBody>
                  <a:tcPr>
                    <a:solidFill>
                      <a:srgbClr val="2E75B6"/>
                    </a:solidFill>
                  </a:tcPr>
                </a:tc>
              </a:tr>
              <a:tr h="292608">
                <a:tc>
                  <a:txBody>
                    <a:bodyPr wrap="none"/>
                    <a:lstStyle/>
                    <a:p>
                      <a:pPr algn="ctr"/>
                      <a:r>
                        <a:rPr sz="1000" b="0">
                          <a:solidFill>
                            <a:srgbClr val="1A1A1A"/>
                          </a:solidFill>
                        </a:rPr>
                        <a:t>Control: UDP, 1024B/50ms</a:t>
                      </a:r>
                    </a:p>
                  </a:txBody>
                  <a:tcPr>
                    <a:solidFill>
                      <a:srgbClr val="F2F6FC"/>
                    </a:solidFill>
                  </a:tcPr>
                </a:tc>
                <a:tc>
                  <a:txBody>
                    <a:bodyPr wrap="none"/>
                    <a:lstStyle/>
                    <a:p>
                      <a:pPr algn="ctr"/>
                      <a:r>
                        <a:rPr sz="1000" b="0">
                          <a:solidFill>
                            <a:srgbClr val="1A1A1A"/>
                          </a:solidFill>
                        </a:rPr>
                        <a:t>Met</a:t>
                      </a:r>
                    </a:p>
                  </a:txBody>
                  <a:tcPr>
                    <a:solidFill>
                      <a:srgbClr val="F2F6FC"/>
                    </a:solidFill>
                  </a:tcPr>
                </a:tc>
                <a:tc>
                  <a:txBody>
                    <a:bodyPr wrap="none"/>
                    <a:lstStyle/>
                    <a:p>
                      <a:pPr algn="ctr"/>
                      <a:r>
                        <a:rPr sz="1000" b="0">
                          <a:solidFill>
                            <a:srgbClr val="1A1A1A"/>
                          </a:solidFill>
                        </a:rPr>
                        <a:t/>
                      </a:r>
                    </a:p>
                  </a:txBody>
                  <a:tcPr>
                    <a:solidFill>
                      <a:srgbClr val="F2F6FC"/>
                    </a:solidFill>
                  </a:tcPr>
                </a:tc>
              </a:tr>
              <a:tr h="292608">
                <a:tc>
                  <a:txBody>
                    <a:bodyPr wrap="none"/>
                    <a:lstStyle/>
                    <a:p>
                      <a:pPr algn="ctr"/>
                      <a:r>
                        <a:rPr sz="1000" b="0">
                          <a:solidFill>
                            <a:srgbClr val="1A1A1A"/>
                          </a:solidFill>
                        </a:rPr>
                        <a:t>Sensor: TCP, 100KB/200ms bursts</a:t>
                      </a:r>
                    </a:p>
                  </a:txBody>
                  <a:tcPr>
                    <a:solidFill>
                      <a:srgbClr val="FBF0D9"/>
                    </a:solidFill>
                  </a:tcPr>
                </a:tc>
                <a:tc>
                  <a:txBody>
                    <a:bodyPr wrap="none"/>
                    <a:lstStyle/>
                    <a:p>
                      <a:pPr algn="ctr"/>
                      <a:r>
                        <a:rPr sz="1000" b="0">
                          <a:solidFill>
                            <a:srgbClr val="1A1A1A"/>
                          </a:solidFill>
                        </a:rPr>
                        <a:t>Deviation</a:t>
                      </a:r>
                    </a:p>
                  </a:txBody>
                  <a:tcPr>
                    <a:solidFill>
                      <a:srgbClr val="FBF0D9"/>
                    </a:solidFill>
                  </a:tcPr>
                </a:tc>
                <a:tc>
                  <a:txBody>
                    <a:bodyPr wrap="none"/>
                    <a:lstStyle/>
                    <a:p>
                      <a:pPr algn="ctr"/>
                      <a:r>
                        <a:rPr sz="1000" b="0">
                          <a:solidFill>
                            <a:srgbClr val="1A1A1A"/>
                          </a:solidFill>
                        </a:rPr>
                        <a:t>Runs as continuous stream; burstiness not reproduced</a:t>
                      </a:r>
                    </a:p>
                  </a:txBody>
                  <a:tcPr>
                    <a:solidFill>
                      <a:srgbClr val="FBF0D9"/>
                    </a:solidFill>
                  </a:tcPr>
                </a:tc>
              </a:tr>
              <a:tr h="292608">
                <a:tc>
                  <a:txBody>
                    <a:bodyPr wrap="none"/>
                    <a:lstStyle/>
                    <a:p>
                      <a:pPr algn="ctr"/>
                      <a:r>
                        <a:rPr sz="1000" b="0">
                          <a:solidFill>
                            <a:srgbClr val="1A1A1A"/>
                          </a:solidFill>
                        </a:rPr>
                        <a:t>Video: separate flow IDs, DSCP</a:t>
                      </a:r>
                    </a:p>
                  </a:txBody>
                  <a:tcPr>
                    <a:solidFill>
                      <a:srgbClr val="F2F6FC"/>
                    </a:solidFill>
                  </a:tcPr>
                </a:tc>
                <a:tc>
                  <a:txBody>
                    <a:bodyPr wrap="none"/>
                    <a:lstStyle/>
                    <a:p>
                      <a:pPr algn="ctr"/>
                      <a:r>
                        <a:rPr sz="1000" b="0">
                          <a:solidFill>
                            <a:srgbClr val="1A1A1A"/>
                          </a:solidFill>
                        </a:rPr>
                        <a:t>Met</a:t>
                      </a:r>
                    </a:p>
                  </a:txBody>
                  <a:tcPr>
                    <a:solidFill>
                      <a:srgbClr val="F2F6FC"/>
                    </a:solidFill>
                  </a:tcPr>
                </a:tc>
                <a:tc>
                  <a:txBody>
                    <a:bodyPr wrap="none"/>
                    <a:lstStyle/>
                    <a:p>
                      <a:pPr algn="ctr"/>
                      <a:r>
                        <a:rPr sz="1000" b="0">
                          <a:solidFill>
                            <a:srgbClr val="1A1A1A"/>
                          </a:solidFill>
                        </a:rPr>
                        <a:t/>
                      </a:r>
                    </a:p>
                  </a:txBody>
                  <a:tcPr>
                    <a:solidFill>
                      <a:srgbClr val="F2F6FC"/>
                    </a:solidFill>
                  </a:tcPr>
                </a:tc>
              </a:tr>
              <a:tr h="292608">
                <a:tc>
                  <a:txBody>
                    <a:bodyPr wrap="none"/>
                    <a:lstStyle/>
                    <a:p>
                      <a:pPr algn="ctr"/>
                      <a:r>
                        <a:rPr sz="1000" b="0">
                          <a:solidFill>
                            <a:srgbClr val="1A1A1A"/>
                          </a:solidFill>
                        </a:rPr>
                        <a:t>Video: 1-10 Mbps band (§3.1)</a:t>
                      </a:r>
                    </a:p>
                  </a:txBody>
                  <a:tcPr>
                    <a:solidFill>
                      <a:srgbClr val="FBF0D9"/>
                    </a:solidFill>
                  </a:tcPr>
                </a:tc>
                <a:tc>
                  <a:txBody>
                    <a:bodyPr wrap="none"/>
                    <a:lstStyle/>
                    <a:p>
                      <a:pPr algn="ctr"/>
                      <a:r>
                        <a:rPr sz="1000" b="0">
                          <a:solidFill>
                            <a:srgbClr val="1A1A1A"/>
                          </a:solidFill>
                        </a:rPr>
                        <a:t>Deviation</a:t>
                      </a:r>
                    </a:p>
                  </a:txBody>
                  <a:tcPr>
                    <a:solidFill>
                      <a:srgbClr val="FBF0D9"/>
                    </a:solidFill>
                  </a:tcPr>
                </a:tc>
                <a:tc>
                  <a:txBody>
                    <a:bodyPr wrap="none"/>
                    <a:lstStyle/>
                    <a:p>
                      <a:pPr algn="ctr"/>
                      <a:r>
                        <a:rPr sz="1000" b="0">
                          <a:solidFill>
                            <a:srgbClr val="1A1A1A"/>
                          </a:solidFill>
                        </a:rPr>
                        <a:t>Below range at 10KB/50KB payload (96/192 runs)</a:t>
                      </a:r>
                    </a:p>
                  </a:txBody>
                  <a:tcPr>
                    <a:solidFill>
                      <a:srgbClr val="FBF0D9"/>
                    </a:solidFill>
                  </a:tcPr>
                </a:tc>
              </a:tr>
              <a:tr h="292608">
                <a:tc>
                  <a:txBody>
                    <a:bodyPr wrap="none"/>
                    <a:lstStyle/>
                    <a:p>
                      <a:pPr algn="ctr"/>
                      <a:r>
                        <a:rPr sz="1000" b="0">
                          <a:solidFill>
                            <a:srgbClr val="1A1A1A"/>
                          </a:solidFill>
                        </a:rPr>
                        <a:t>RSSI threshold −58dBm (§4.2.2)</a:t>
                      </a:r>
                    </a:p>
                  </a:txBody>
                  <a:tcPr>
                    <a:solidFill>
                      <a:srgbClr val="FBF0D9"/>
                    </a:solidFill>
                  </a:tcPr>
                </a:tc>
                <a:tc>
                  <a:txBody>
                    <a:bodyPr wrap="none"/>
                    <a:lstStyle/>
                    <a:p>
                      <a:pPr algn="ctr"/>
                      <a:r>
                        <a:rPr sz="1000" b="0">
                          <a:solidFill>
                            <a:srgbClr val="1A1A1A"/>
                          </a:solidFill>
                        </a:rPr>
                        <a:t>Deviation</a:t>
                      </a:r>
                    </a:p>
                  </a:txBody>
                  <a:tcPr>
                    <a:solidFill>
                      <a:srgbClr val="FBF0D9"/>
                    </a:solidFill>
                  </a:tcPr>
                </a:tc>
                <a:tc>
                  <a:txBody>
                    <a:bodyPr wrap="none"/>
                    <a:lstStyle/>
                    <a:p>
                      <a:pPr algn="ctr"/>
                      <a:r>
                        <a:rPr sz="1000" b="0">
                          <a:solidFill>
                            <a:srgbClr val="1A1A1A"/>
                          </a:solidFill>
                        </a:rPr>
                        <a:t>Campaign used −80dBm/3dB — deferred to Aug item</a:t>
                      </a:r>
                    </a:p>
                  </a:txBody>
                  <a:tcPr>
                    <a:solidFill>
                      <a:srgbClr val="FBF0D9"/>
                    </a:solidFill>
                  </a:tcPr>
                </a:tc>
              </a:tr>
              <a:tr h="292608">
                <a:tc>
                  <a:txBody>
                    <a:bodyPr wrap="none"/>
                    <a:lstStyle/>
                    <a:p>
                      <a:pPr algn="ctr"/>
                      <a:r>
                        <a:rPr sz="1000" b="0">
                          <a:solidFill>
                            <a:srgbClr val="1A1A1A"/>
                          </a:solidFill>
                        </a:rPr>
                        <a:t>Control PDR before/after switch (§3.3)</a:t>
                      </a:r>
                    </a:p>
                  </a:txBody>
                  <a:tcPr>
                    <a:solidFill>
                      <a:srgbClr val="FBF0D9"/>
                    </a:solidFill>
                  </a:tcPr>
                </a:tc>
                <a:tc>
                  <a:txBody>
                    <a:bodyPr wrap="none"/>
                    <a:lstStyle/>
                    <a:p>
                      <a:pPr algn="ctr"/>
                      <a:r>
                        <a:rPr sz="1000" b="0">
                          <a:solidFill>
                            <a:srgbClr val="1A1A1A"/>
                          </a:solidFill>
                        </a:rPr>
                        <a:t>Partial</a:t>
                      </a:r>
                    </a:p>
                  </a:txBody>
                  <a:tcPr>
                    <a:solidFill>
                      <a:srgbClr val="FBF0D9"/>
                    </a:solidFill>
                  </a:tcPr>
                </a:tc>
                <a:tc>
                  <a:txBody>
                    <a:bodyPr wrap="none"/>
                    <a:lstStyle/>
                    <a:p>
                      <a:pPr algn="ctr"/>
                      <a:r>
                        <a:rPr sz="1000" b="0">
                          <a:solidFill>
                            <a:srgbClr val="1A1A1A"/>
                          </a:solidFill>
                        </a:rPr>
                        <a:t>Leg split used as proxy; true per-event log not emitted</a:t>
                      </a:r>
                    </a:p>
                  </a:txBody>
                  <a:tcPr>
                    <a:solidFill>
                      <a:srgbClr val="FBF0D9"/>
                    </a:solidFill>
                  </a:tcPr>
                </a:tc>
              </a:tr>
            </a:tbl>
          </a:graphicData>
        </a:graphic>
      </p:graphicFrame>
      <p:sp>
        <p:nvSpPr>
          <p:cNvPr id="8" name="TextBox 7"/>
          <p:cNvSpPr txBox="1"/>
          <p:nvPr/>
        </p:nvSpPr>
        <p:spPr>
          <a:xfrm>
            <a:off x="228600" y="4206240"/>
            <a:ext cx="11704320" cy="731520"/>
          </a:xfrm>
          <a:prstGeom prst="rect">
            <a:avLst/>
          </a:prstGeom>
          <a:noFill/>
        </p:spPr>
        <p:txBody>
          <a:bodyPr wrap="square">
            <a:spAutoFit/>
          </a:bodyPr>
          <a:lstStyle/>
          <a:p>
            <a:pPr algn="l"/>
            <a:r>
              <a:rPr sz="1300" b="0" i="1">
                <a:solidFill>
                  <a:srgbClr val="1A1A1A"/>
                </a:solidFill>
              </a:rPr>
              <a:t>All deviations are named in the final report rather than smoothed over. Threshold alignment and Sensor/Video traffic-shape fixes require re-running the 192-run matrix and are scoped to the August enhancement item, not silently deferred.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515600" cy="594360"/>
          </a:xfrm>
          <a:prstGeom prst="rect">
            <a:avLst/>
          </a:prstGeom>
          <a:noFill/>
        </p:spPr>
        <p:txBody>
          <a:bodyPr wrap="square">
            <a:spAutoFit/>
          </a:bodyPr>
          <a:lstStyle/>
          <a:p>
            <a:pPr algn="l"/>
            <a:r>
              <a:rPr sz="2600" b="1" i="0">
                <a:solidFill>
                  <a:srgbClr val="FFFFFF"/>
                </a:solidFill>
              </a:rPr>
              <a:t>6.  Key Findings &amp; Next Steps</a:t>
            </a:r>
          </a:p>
        </p:txBody>
      </p:sp>
      <p:sp>
        <p:nvSpPr>
          <p:cNvPr id="4" name="TextBox 3"/>
          <p:cNvSpPr txBox="1"/>
          <p:nvPr/>
        </p:nvSpPr>
        <p:spPr>
          <a:xfrm>
            <a:off x="274320" y="658368"/>
            <a:ext cx="11430000" cy="347472"/>
          </a:xfrm>
          <a:prstGeom prst="rect">
            <a:avLst/>
          </a:prstGeom>
          <a:noFill/>
        </p:spPr>
        <p:txBody>
          <a:bodyPr wrap="square">
            <a:spAutoFit/>
          </a:bodyPr>
          <a:lstStyle/>
          <a:p>
            <a:pPr algn="l"/>
            <a:r>
              <a:rPr sz="1400" b="0" i="0">
                <a:solidFill>
                  <a:srgbClr val="BBD3F0"/>
                </a:solidFill>
              </a:rPr>
              <a:t>What the completed 192-run campaign shows, and what's still ahead</a:t>
            </a:r>
          </a:p>
        </p:txBody>
      </p:sp>
      <p:sp>
        <p:nvSpPr>
          <p:cNvPr id="5" name="Rectangle 4"/>
          <p:cNvSpPr/>
          <p:nvPr/>
        </p:nvSpPr>
        <p:spPr>
          <a:xfrm>
            <a:off x="0" y="6565392"/>
            <a:ext cx="12188952" cy="29260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74536"/>
            <a:ext cx="8229600" cy="256032"/>
          </a:xfrm>
          <a:prstGeom prst="rect">
            <a:avLst/>
          </a:prstGeom>
          <a:noFill/>
        </p:spPr>
        <p:txBody>
          <a:bodyPr wrap="square">
            <a:spAutoFit/>
          </a:bodyPr>
          <a:lstStyle/>
          <a:p>
            <a:pPr algn="l"/>
            <a:r>
              <a:rPr sz="900" b="0" i="0">
                <a:solidFill>
                  <a:srgbClr val="BBD3F0"/>
                </a:solidFill>
              </a:rPr>
              <a:t>Sheikh Sayed Bin Rahman  |  PIC Lab, Kyushu Institute of Technology (KIT)  |  2026</a:t>
            </a:r>
          </a:p>
        </p:txBody>
      </p:sp>
      <p:sp>
        <p:nvSpPr>
          <p:cNvPr id="7" name="TextBox 6"/>
          <p:cNvSpPr txBox="1"/>
          <p:nvPr/>
        </p:nvSpPr>
        <p:spPr>
          <a:xfrm>
            <a:off x="228600" y="1188720"/>
            <a:ext cx="5486400" cy="292608"/>
          </a:xfrm>
          <a:prstGeom prst="rect">
            <a:avLst/>
          </a:prstGeom>
          <a:noFill/>
        </p:spPr>
        <p:txBody>
          <a:bodyPr wrap="square">
            <a:spAutoFit/>
          </a:bodyPr>
          <a:lstStyle/>
          <a:p>
            <a:pPr algn="l"/>
            <a:r>
              <a:rPr sz="1300" b="1" i="0">
                <a:solidFill>
                  <a:srgbClr val="2E75B6"/>
                </a:solidFill>
              </a:rPr>
              <a:t>Findings</a:t>
            </a:r>
          </a:p>
        </p:txBody>
      </p:sp>
      <p:sp>
        <p:nvSpPr>
          <p:cNvPr id="8" name="TextBox 7"/>
          <p:cNvSpPr txBox="1"/>
          <p:nvPr/>
        </p:nvSpPr>
        <p:spPr>
          <a:xfrm>
            <a:off x="228600" y="1508760"/>
            <a:ext cx="7863840" cy="3291840"/>
          </a:xfrm>
          <a:prstGeom prst="rect">
            <a:avLst/>
          </a:prstGeom>
          <a:noFill/>
        </p:spPr>
        <p:txBody>
          <a:bodyPr wrap="square">
            <a:spAutoFit/>
          </a:bodyPr>
          <a:lstStyle/>
          <a:p>
            <a:pPr>
              <a:spcAft>
                <a:spcPts val="400"/>
              </a:spcAft>
            </a:pPr>
            <a:r>
              <a:rPr sz="1250">
                <a:solidFill>
                  <a:srgbClr val="1A1A1A"/>
                </a:solidFill>
              </a:rPr>
              <a:t>1.  The switching mechanism works: once on the fallback, Control PDR is 94.3%</a:t>
            </a:r>
          </a:p>
          <a:p>
            <a:pPr>
              <a:spcAft>
                <a:spcPts val="400"/>
              </a:spcAft>
            </a:pPr>
            <a:r>
              <a:rPr sz="1250">
                <a:solidFill>
                  <a:srgbClr val="1A1A1A"/>
                </a:solidFill>
              </a:rPr>
              <a:t>     (LTE) / 74.0% (NR) — a radio-side question, not a switching-logic failure.</a:t>
            </a:r>
          </a:p>
          <a:p>
            <a:pPr>
              <a:spcAft>
                <a:spcPts val="400"/>
              </a:spcAft>
            </a:pPr>
            <a:r>
              <a:rPr sz="1250">
                <a:solidFill>
                  <a:srgbClr val="1A1A1A"/>
                </a:solidFill>
              </a:rPr>
              <a:t>2.  The WiFi mesh primary leg is the limiting factor (55.5% / 56.1% Control PDR),</a:t>
            </a:r>
          </a:p>
          <a:p>
            <a:pPr>
              <a:spcAft>
                <a:spcPts val="400"/>
              </a:spcAft>
            </a:pPr>
            <a:r>
              <a:rPr sz="1250">
                <a:solidFill>
                  <a:srgbClr val="1A1A1A"/>
                </a:solidFill>
              </a:rPr>
              <a:t>     not the hybrid design overall. Mesh association/route maintenance is the</a:t>
            </a:r>
          </a:p>
          <a:p>
            <a:pPr>
              <a:spcAft>
                <a:spcPts val="400"/>
              </a:spcAft>
            </a:pPr>
            <a:r>
              <a:rPr sz="1250">
                <a:solidFill>
                  <a:srgbClr val="1A1A1A"/>
                </a:solidFill>
              </a:rPr>
              <a:t>     August enhancement item.</a:t>
            </a:r>
          </a:p>
          <a:p>
            <a:pPr>
              <a:spcAft>
                <a:spcPts val="400"/>
              </a:spcAft>
            </a:pPr>
            <a:r>
              <a:rPr sz="1250">
                <a:solidFill>
                  <a:srgbClr val="1A1A1A"/>
                </a:solidFill>
              </a:rPr>
              <a:t>3.  Switch recovery is fast in the majority of cases (54.1% within 200ms, median</a:t>
            </a:r>
          </a:p>
          <a:p>
            <a:pPr>
              <a:spcAft>
                <a:spcPts val="400"/>
              </a:spcAft>
            </a:pPr>
            <a:r>
              <a:rPr sz="1250">
                <a:solidFill>
                  <a:srgbClr val="1A1A1A"/>
                </a:solidFill>
              </a:rPr>
              <a:t>     50ms measured); sustained primary-path outages cost more than the switch</a:t>
            </a:r>
          </a:p>
          <a:p>
            <a:pPr>
              <a:spcAft>
                <a:spcPts val="400"/>
              </a:spcAft>
            </a:pPr>
            <a:r>
              <a:rPr sz="1250">
                <a:solidFill>
                  <a:srgbClr val="1A1A1A"/>
                </a:solidFill>
              </a:rPr>
              <a:t>     transient itself.</a:t>
            </a:r>
          </a:p>
          <a:p>
            <a:pPr>
              <a:spcAft>
                <a:spcPts val="400"/>
              </a:spcAft>
            </a:pPr>
            <a:r>
              <a:rPr sz="1250">
                <a:solidFill>
                  <a:srgbClr val="1A1A1A"/>
                </a:solidFill>
              </a:rPr>
              <a:t>4.  Sensor/Video TCP PDR (~97%) cannot be used to judge path health — sockets</a:t>
            </a:r>
          </a:p>
          <a:p>
            <a:pPr>
              <a:spcAft>
                <a:spcPts val="400"/>
              </a:spcAft>
            </a:pPr>
            <a:r>
              <a:rPr sz="1250">
                <a:solidFill>
                  <a:srgbClr val="1A1A1A"/>
                </a:solidFill>
              </a:rPr>
              <a:t>     never migrate, so TCP retransmission masks outages as reduced throughput.</a:t>
            </a:r>
          </a:p>
          <a:p>
            <a:pPr>
              <a:spcAft>
                <a:spcPts val="400"/>
              </a:spcAft>
            </a:pPr>
            <a:r>
              <a:rPr sz="1250">
                <a:solidFill>
                  <a:srgbClr val="1A1A1A"/>
                </a:solidFill>
              </a:rPr>
              <a:t>5.  STA count and payload both affect Control PDR and timeout rate — the 192-run</a:t>
            </a:r>
          </a:p>
          <a:p>
            <a:pPr>
              <a:spcAft>
                <a:spcPts val="400"/>
              </a:spcAft>
            </a:pPr>
            <a:r>
              <a:rPr sz="1250">
                <a:solidFill>
                  <a:srgbClr val="1A1A1A"/>
                </a:solidFill>
              </a:rPr>
              <a:t>     factorial matrix was necessary; single-seed anecdotes were not sufficient.</a:t>
            </a:r>
          </a:p>
        </p:txBody>
      </p:sp>
      <p:sp>
        <p:nvSpPr>
          <p:cNvPr id="9" name="Rectangle 8"/>
          <p:cNvSpPr/>
          <p:nvPr/>
        </p:nvSpPr>
        <p:spPr>
          <a:xfrm>
            <a:off x="228600" y="4937760"/>
            <a:ext cx="7863840"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5029200"/>
            <a:ext cx="7863840" cy="274320"/>
          </a:xfrm>
          <a:prstGeom prst="rect">
            <a:avLst/>
          </a:prstGeom>
          <a:noFill/>
        </p:spPr>
        <p:txBody>
          <a:bodyPr wrap="square">
            <a:spAutoFit/>
          </a:bodyPr>
          <a:lstStyle/>
          <a:p>
            <a:pPr algn="l"/>
            <a:r>
              <a:rPr sz="1300" b="1" i="0">
                <a:solidFill>
                  <a:srgbClr val="2E75B6"/>
                </a:solidFill>
              </a:rPr>
              <a:t>Next steps (August enhancement item):</a:t>
            </a:r>
          </a:p>
        </p:txBody>
      </p:sp>
      <p:sp>
        <p:nvSpPr>
          <p:cNvPr id="11" name="TextBox 10"/>
          <p:cNvSpPr txBox="1"/>
          <p:nvPr/>
        </p:nvSpPr>
        <p:spPr>
          <a:xfrm>
            <a:off x="228600" y="5349240"/>
            <a:ext cx="7863840" cy="1097280"/>
          </a:xfrm>
          <a:prstGeom prst="rect">
            <a:avLst/>
          </a:prstGeom>
          <a:noFill/>
        </p:spPr>
        <p:txBody>
          <a:bodyPr wrap="square">
            <a:spAutoFit/>
          </a:bodyPr>
          <a:lstStyle/>
          <a:p>
            <a:pPr>
              <a:spcAft>
                <a:spcPts val="400"/>
              </a:spcAft>
            </a:pPr>
            <a:r>
              <a:rPr sz="1250">
                <a:solidFill>
                  <a:srgbClr val="1A1A1A"/>
                </a:solidFill>
              </a:rPr>
              <a:t>•  Align RSSI threshold to −58dBm and classify Intra-Mesh HO events</a:t>
            </a:r>
          </a:p>
          <a:p>
            <a:pPr>
              <a:spcAft>
                <a:spcPts val="400"/>
              </a:spcAft>
            </a:pPr>
            <a:r>
              <a:rPr sz="1250">
                <a:solidFill>
                  <a:srgbClr val="1A1A1A"/>
                </a:solidFill>
              </a:rPr>
              <a:t>•  Fix Sensor (bursty 100KB/200ms) and Video (1-10Mbps floor) traffic shape</a:t>
            </a:r>
          </a:p>
          <a:p>
            <a:pPr>
              <a:spcAft>
                <a:spcPts val="400"/>
              </a:spcAft>
            </a:pPr>
            <a:r>
              <a:rPr sz="1250">
                <a:solidFill>
                  <a:srgbClr val="1A1A1A"/>
                </a:solidFill>
              </a:rPr>
              <a:t>•  Improve mesh association/route maintenance to close the primary-leg gap</a:t>
            </a:r>
          </a:p>
        </p:txBody>
      </p:sp>
      <p:pic>
        <p:nvPicPr>
          <p:cNvPr id="12" name="Picture 11" descr="fig17_control_continuity.png"/>
          <p:cNvPicPr>
            <a:picLocks noChangeAspect="1"/>
          </p:cNvPicPr>
          <p:nvPr/>
        </p:nvPicPr>
        <p:blipFill>
          <a:blip r:embed="rId2"/>
          <a:stretch>
            <a:fillRect/>
          </a:stretch>
        </p:blipFill>
        <p:spPr>
          <a:xfrm>
            <a:off x="8229600" y="1188720"/>
            <a:ext cx="3749039" cy="525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