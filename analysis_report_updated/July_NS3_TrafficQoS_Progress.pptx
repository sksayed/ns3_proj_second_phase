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28600"/>
            <a:ext cx="960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960120" cy="5486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1" i="0">
                <a:solidFill>
                  <a:srgbClr val="5F6B7A"/>
                </a:solidFill>
                <a:latin typeface="Arial"/>
              </a:rPr>
              <a:t>LAB
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417320"/>
            <a:ext cx="68580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200" b="1" i="0">
                <a:solidFill>
                  <a:srgbClr val="B45309"/>
                </a:solidFill>
                <a:latin typeface="Arial"/>
              </a:rPr>
              <a:t>JULY 2026 PROGRESS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7680960" cy="10515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NS-3 Traffic QoS Model &amp;
Hybrid Switching Reliability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6949440" cy="6400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300" b="0" i="0">
                <a:solidFill>
                  <a:srgbClr val="E9F2F9"/>
                </a:solidFill>
                <a:latin typeface="Arial"/>
              </a:rPr>
              <a:t>Hybrid Network Construction and Performance Evaluation
for Multi-Robot Systems at Construction Sites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11480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4251960"/>
            <a:ext cx="5120640" cy="2286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 i="0">
                <a:solidFill>
                  <a:srgbClr val="5F6B7A"/>
                </a:solidFill>
                <a:latin typeface="Arial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526280"/>
            <a:ext cx="512064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Sheikh Sayed Bin Rahman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892040"/>
            <a:ext cx="512064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Arial"/>
              </a:rPr>
              <a:t>PIC Lab, Kyushu Institute of Technology (KIT)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5212080"/>
            <a:ext cx="5120640" cy="2286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 i="0">
                <a:solidFill>
                  <a:srgbClr val="5F6B7A"/>
                </a:solidFill>
                <a:latin typeface="Arial"/>
              </a:rPr>
              <a:t>NS-3.45  ·  WiFi Mesh + LTE / 5G NR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355080"/>
            <a:ext cx="8412480" cy="2286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900" b="0" i="1">
                <a:solidFill>
                  <a:srgbClr val="E9F2F9"/>
                </a:solidFill>
                <a:latin typeface="Arial"/>
              </a:rPr>
              <a:t>Replace the top-left box with the PIC Lab 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71323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0"/>
            <a:ext cx="713232" cy="5486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800" b="1" i="0">
                <a:solidFill>
                  <a:srgbClr val="5F6B7A"/>
                </a:solidFill>
                <a:latin typeface="Arial"/>
              </a:rPr>
              <a:t>LAB
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7589520" cy="4114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  <a:latin typeface="Arial"/>
              </a:rPr>
              <a:t>What was completed in July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58368"/>
            <a:ext cx="758952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Arial"/>
              </a:rPr>
              <a:t>Software implementation and reliability fixes for the NS-3 hybrid simulator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987552"/>
            <a:ext cx="91440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81381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64008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6400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71600"/>
            <a:ext cx="704088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Arial"/>
              </a:rPr>
              <a:t>QoS traffic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673352"/>
            <a:ext cx="704088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Replaced generic traffic with Control, Sensor, and Video flows, each with DSCP marking.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81381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64008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6400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286000"/>
            <a:ext cx="704088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Arial"/>
              </a:rPr>
              <a:t>Per-flow measurement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587752"/>
            <a:ext cx="704088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Added flow_metrics.py for Control PDR, P99 latency, and throughput share.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063240"/>
            <a:ext cx="81381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063240"/>
            <a:ext cx="64008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91840"/>
            <a:ext cx="6400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200400"/>
            <a:ext cx="704088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Arial"/>
              </a:rPr>
              <a:t>WiFi association crash 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502152"/>
            <a:ext cx="704088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Patched stale Association Response handling so multi-AP roaming no longer aborts NS-3.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977640"/>
            <a:ext cx="81381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977640"/>
            <a:ext cx="64008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206240"/>
            <a:ext cx="6400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114800"/>
            <a:ext cx="704088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Arial"/>
              </a:rPr>
              <a:t>Switch recovery improvement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416552"/>
            <a:ext cx="704088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Recovery confirmation now uses Control UDP, improving resolved-switch rate on test cases.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92040"/>
            <a:ext cx="81381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892040"/>
            <a:ext cx="64008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120640"/>
            <a:ext cx="6400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029200"/>
            <a:ext cx="704088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Arial"/>
              </a:rPr>
              <a:t>Multi-seed evaluation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330952"/>
            <a:ext cx="704088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Completed a 5G NR matrix across seeds 6/7/8 and STA counts 5/10/15.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37960"/>
            <a:ext cx="658368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800" b="0" i="0">
                <a:solidFill>
                  <a:srgbClr val="5F6B7A"/>
                </a:solidFill>
                <a:latin typeface="Arial"/>
              </a:rPr>
              <a:t>Sheikh Sayed Bin Rahman  ·  PIC Lab, Kyushu Institute of Technology (KIT)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6537960"/>
            <a:ext cx="91440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800" b="0" i="0">
                <a:solidFill>
                  <a:srgbClr val="5F6B7A"/>
                </a:solidFill>
                <a:latin typeface="Arial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71323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0"/>
            <a:ext cx="713232" cy="5486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800" b="1" i="0">
                <a:solidFill>
                  <a:srgbClr val="5F6B7A"/>
                </a:solidFill>
                <a:latin typeface="Arial"/>
              </a:rPr>
              <a:t>LAB
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7589520" cy="4114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  <a:latin typeface="Arial"/>
              </a:rPr>
              <a:t>July deliverable — robot traffic QoS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58368"/>
            <a:ext cx="758952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Arial"/>
              </a:rPr>
              <a:t>Three application flows with independent FlowMonitor measurement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987552"/>
            <a:ext cx="91440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2697480" cy="7315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417320"/>
            <a:ext cx="242316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Arial"/>
              </a:rPr>
              <a:t>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737360"/>
            <a:ext cx="2423160" cy="2926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•  UDP, ~1 KB / 50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029968"/>
            <a:ext cx="2423160" cy="2926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•  DSCP EF (robot commands)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322576"/>
            <a:ext cx="2423160" cy="2926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•  Target: P99 ≤ 50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615184"/>
            <a:ext cx="2423160" cy="2926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•  Loss target: 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23444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234440"/>
            <a:ext cx="2697480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1417320"/>
            <a:ext cx="242316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Arial"/>
              </a:rPr>
              <a:t>Sensor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1737360"/>
            <a:ext cx="2423160" cy="2926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•  TCP telemetry upload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2029968"/>
            <a:ext cx="2423160" cy="2926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•  DSCP AF31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2322576"/>
            <a:ext cx="2423160" cy="2926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•  Target: delay ≤ 200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2" y="2615184"/>
            <a:ext cx="2423160" cy="2926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•  Loss target: &lt; 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123444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1234440"/>
            <a:ext cx="2697480" cy="73152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1417320"/>
            <a:ext cx="242316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Arial"/>
              </a:rPr>
              <a:t>Video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1737360"/>
            <a:ext cx="2423160" cy="2926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•  TCP continuous stream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2029968"/>
            <a:ext cx="2423160" cy="2926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•  DSCP AF41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2322576"/>
            <a:ext cx="2423160" cy="2926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•  Target: delay ≤ 500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2615184"/>
            <a:ext cx="2423160" cy="2926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•  Loss target: &lt; 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931920"/>
            <a:ext cx="804672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Arial"/>
              </a:rPr>
              <a:t>Deliverable status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02920" y="4297680"/>
          <a:ext cx="81381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206240"/>
                <a:gridCol w="1828800"/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Artifact</a:t>
                      </a:r>
                    </a:p>
                  </a:txBody>
                  <a:tcPr marL="50800" marR="508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50800" marR="508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0800" marR="50800" marT="38100" marB="38100" anchor="ctr">
                    <a:solidFill>
                      <a:srgbClr val="1F4E79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traffic_qos.cc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NS-3 scenario with 3-flow traffic + DSCP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flow_metrics.py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Per-flow PDR / delay / P99 / throughput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traffic_qos_report.pdf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Full statistical analysis report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Pending 192 runs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365760" y="6537960"/>
            <a:ext cx="658368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800" b="0" i="0">
                <a:solidFill>
                  <a:srgbClr val="5F6B7A"/>
                </a:solidFill>
                <a:latin typeface="Arial"/>
              </a:rPr>
              <a:t>Sheikh Sayed Bin Rahman  ·  PIC Lab, Kyushu Institute of Technology (KIT)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6537960"/>
            <a:ext cx="91440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800" b="0" i="0">
                <a:solidFill>
                  <a:srgbClr val="5F6B7A"/>
                </a:solidFill>
                <a:latin typeface="Arial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71323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0"/>
            <a:ext cx="713232" cy="5486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800" b="1" i="0">
                <a:solidFill>
                  <a:srgbClr val="5F6B7A"/>
                </a:solidFill>
                <a:latin typeface="Arial"/>
              </a:rPr>
              <a:t>LAB
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7589520" cy="4114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  <a:latin typeface="Arial"/>
              </a:rPr>
              <a:t>WiFi BSSID crash — root cause and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58368"/>
            <a:ext cx="758952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Arial"/>
              </a:rPr>
              <a:t>NS-3 aborted under multi-AP roaming with shared SSID MeshHotspot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987552"/>
            <a:ext cx="91440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20116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36576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73736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Arial"/>
              </a:rPr>
              <a:t>Associate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737360" cy="5943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Arial"/>
              </a:rPr>
              <a:t>STA requests association to AP 0c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234440"/>
            <a:ext cx="20116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1371600"/>
            <a:ext cx="36576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1783080"/>
            <a:ext cx="173736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Arial"/>
              </a:rPr>
              <a:t>Roam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148840"/>
            <a:ext cx="1737360" cy="5943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Arial"/>
              </a:rPr>
              <a:t>Missed beacons → rescan → new request to AP 0b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234440"/>
            <a:ext cx="20116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371600"/>
            <a:ext cx="36576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783080"/>
            <a:ext cx="173736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Arial"/>
              </a:rPr>
              <a:t>Stale 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148840"/>
            <a:ext cx="1737360" cy="5943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Arial"/>
              </a:rPr>
              <a:t>Delayed AssocResp from abandoned AP 0c arrives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1234440"/>
            <a:ext cx="20116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1371600"/>
            <a:ext cx="36576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1783080"/>
            <a:ext cx="173736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Arial"/>
              </a:rPr>
              <a:t>Crash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148840"/>
            <a:ext cx="1737360" cy="5943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Arial"/>
              </a:rPr>
              <a:t>Assert: target BSSID ≠ response BSSID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200400"/>
            <a:ext cx="8138160" cy="105156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337560"/>
            <a:ext cx="77724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 i="0">
                <a:solidFill>
                  <a:srgbClr val="166534"/>
                </a:solidFill>
                <a:latin typeface="Arial"/>
              </a:rPr>
              <a:t>Correction in sta-wifi-mac.cc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703320"/>
            <a:ext cx="7772400" cy="4114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Arial"/>
              </a:rPr>
              <a:t>Ignore Association Responses whose BSSID does not match the STA’s current target AP. Keep waiting for the correct response instead of aborting the simulation.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52628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526280"/>
            <a:ext cx="63500" cy="12801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690872"/>
            <a:ext cx="237744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2400" b="1" i="0">
                <a:solidFill>
                  <a:srgbClr val="1F2937"/>
                </a:solidFill>
                <a:latin typeface="Arial"/>
              </a:rPr>
              <a:t>4 / 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5184648"/>
            <a:ext cx="2423160" cy="4114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 i="0">
                <a:solidFill>
                  <a:srgbClr val="5F6B7A"/>
                </a:solidFill>
                <a:latin typeface="Arial"/>
              </a:rPr>
              <a:t>runs crashed before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452628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46120" y="4526280"/>
            <a:ext cx="63500" cy="128016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4690872"/>
            <a:ext cx="237744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2400" b="1" i="0">
                <a:solidFill>
                  <a:srgbClr val="1F2937"/>
                </a:solidFill>
                <a:latin typeface="Arial"/>
              </a:rPr>
              <a:t>9 / 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5848" y="5184648"/>
            <a:ext cx="2423160" cy="4114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 i="0">
                <a:solidFill>
                  <a:srgbClr val="5F6B7A"/>
                </a:solidFill>
                <a:latin typeface="Arial"/>
              </a:rPr>
              <a:t>runs complete after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9320" y="452628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89320" y="4526280"/>
            <a:ext cx="63500" cy="1280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4690872"/>
            <a:ext cx="237744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2400" b="1" i="0">
                <a:solidFill>
                  <a:srgbClr val="1F2937"/>
                </a:solidFill>
                <a:latin typeface="Arial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9048" y="5184648"/>
            <a:ext cx="2423160" cy="4114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 i="0">
                <a:solidFill>
                  <a:srgbClr val="5F6B7A"/>
                </a:solidFill>
                <a:latin typeface="Arial"/>
              </a:rPr>
              <a:t>aborts in re-sweep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37960"/>
            <a:ext cx="658368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800" b="0" i="0">
                <a:solidFill>
                  <a:srgbClr val="5F6B7A"/>
                </a:solidFill>
                <a:latin typeface="Arial"/>
              </a:rPr>
              <a:t>Sheikh Sayed Bin Rahman  ·  PIC Lab, Kyushu Institute of Technology (KIT)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6537960"/>
            <a:ext cx="91440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800" b="0" i="0">
                <a:solidFill>
                  <a:srgbClr val="5F6B7A"/>
                </a:solidFill>
                <a:latin typeface="Arial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71323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0"/>
            <a:ext cx="713232" cy="5486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800" b="1" i="0">
                <a:solidFill>
                  <a:srgbClr val="5F6B7A"/>
                </a:solidFill>
                <a:latin typeface="Arial"/>
              </a:rPr>
              <a:t>LAB
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7589520" cy="4114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  <a:latin typeface="Arial"/>
              </a:rPr>
              <a:t>Switch recovery confirmation improved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58368"/>
            <a:ext cx="758952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Arial"/>
              </a:rPr>
              <a:t>Representative case: 5G NR · 10 STA · seed 7 · 60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987552"/>
            <a:ext cx="91440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804672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Arial"/>
              </a:rPr>
              <a:t>What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8138160" cy="8229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Arial"/>
              </a:rPr>
              <a:t>Recovery was previously confirmed only when Sensor TCP traffic resumed. TCP can stall after a route rewrite, so many successful handovers were counted as timeouts. Recovery is now confirmed from the continuous Control UDP flow, and stale pending switch events are retired when a newer path decision occurs.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514600"/>
            <a:ext cx="4023360" cy="2331720"/>
          </a:xfrm>
          <a:prstGeom prst="roundRect">
            <a:avLst>
              <a:gd name="adj" fmla="val 8000"/>
            </a:avLst>
          </a:prstGeom>
          <a:solidFill>
            <a:srgbClr val="FDF2F2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36576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1" i="0">
                <a:solidFill>
                  <a:srgbClr val="B91C1C"/>
                </a:solidFill>
                <a:latin typeface="Arial"/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3657600" cy="5029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Arial"/>
              </a:rPr>
              <a:t>57%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57600"/>
            <a:ext cx="3657600" cy="9144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Arial"/>
              </a:rPr>
              <a:t>resolved switches
20 timeouts out of 47 events
median interruption 178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514600"/>
            <a:ext cx="4023360" cy="233172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697480"/>
            <a:ext cx="36576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1" i="0">
                <a:solidFill>
                  <a:srgbClr val="166534"/>
                </a:solidFill>
                <a:latin typeface="Arial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063240"/>
            <a:ext cx="3657600" cy="5029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Arial"/>
              </a:rPr>
              <a:t>87%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657600"/>
            <a:ext cx="3657600" cy="9144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Arial"/>
              </a:rPr>
              <a:t>resolved switches
2 timeouts out of 47 events
median interruption 55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74920"/>
            <a:ext cx="8138160" cy="4114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Arial"/>
              </a:rPr>
              <a:t>Full 9-run matrix (all seeds/STA): 73% overall resolved · WiFi→NR 88% · NR→WiFi return 57%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532120"/>
            <a:ext cx="8138160" cy="4114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Note: return from cellular to WiFi is still harder than the forward WiFi→NR path; multi-seed data is required for the report.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37960"/>
            <a:ext cx="658368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800" b="0" i="0">
                <a:solidFill>
                  <a:srgbClr val="5F6B7A"/>
                </a:solidFill>
                <a:latin typeface="Arial"/>
              </a:rPr>
              <a:t>Sheikh Sayed Bin Rahman  ·  PIC Lab, Kyushu Institute of Technology (KIT)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6537960"/>
            <a:ext cx="91440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800" b="0" i="0">
                <a:solidFill>
                  <a:srgbClr val="5F6B7A"/>
                </a:solidFill>
                <a:latin typeface="Arial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71323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0"/>
            <a:ext cx="713232" cy="5486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800" b="1" i="0">
                <a:solidFill>
                  <a:srgbClr val="5F6B7A"/>
                </a:solidFill>
                <a:latin typeface="Arial"/>
              </a:rPr>
              <a:t>LAB
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7589520" cy="4114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  <a:latin typeface="Arial"/>
              </a:rPr>
              <a:t>Seeds and STA count still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58368"/>
            <a:ext cx="758952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Arial"/>
              </a:rPr>
              <a:t>Same code, same 60 s / 5G NR setup — different RNG seeds change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987552"/>
            <a:ext cx="91440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749808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777240"/>
                <a:gridCol w="1188720"/>
                <a:gridCol w="1188720"/>
                <a:gridCol w="1097280"/>
                <a:gridCol w="1234440"/>
                <a:gridCol w="1234440"/>
              </a:tblGrid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Seed</a:t>
                      </a:r>
                    </a:p>
                  </a:txBody>
                  <a:tcPr marL="50800" marR="508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</a:t>
                      </a:r>
                    </a:p>
                  </a:txBody>
                  <a:tcPr marL="50800" marR="508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Switches</a:t>
                      </a:r>
                    </a:p>
                  </a:txBody>
                  <a:tcPr marL="50800" marR="508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Resolved</a:t>
                      </a:r>
                    </a:p>
                  </a:txBody>
                  <a:tcPr marL="50800" marR="508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Timeout</a:t>
                      </a:r>
                    </a:p>
                  </a:txBody>
                  <a:tcPr marL="50800" marR="508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Timeout %</a:t>
                      </a:r>
                    </a:p>
                  </a:txBody>
                  <a:tcPr marL="50800" marR="508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Median ms</a:t>
                      </a:r>
                    </a:p>
                  </a:txBody>
                  <a:tcPr marL="50800" marR="50800" marT="38100" marB="38100" anchor="ctr">
                    <a:solidFill>
                      <a:srgbClr val="1F4E79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937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937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13%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937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17%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93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17%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564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93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93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937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937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</a:tr>
              <a:tr h="3977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937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557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394960"/>
            <a:ext cx="8229600" cy="5029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Arial"/>
              </a:rPr>
              <a:t>Best: seed 7 / 10 STA (4% timeout). Worst: seed 6 / 5 STA (25%). A single seed would have overstated reliability — hence the 192-run campaign.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658368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800" b="0" i="0">
                <a:solidFill>
                  <a:srgbClr val="5F6B7A"/>
                </a:solidFill>
                <a:latin typeface="Arial"/>
              </a:rPr>
              <a:t>Sheikh Sayed Bin Rahman  ·  PIC Lab, Kyushu Institute of Technology (KIT)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6537960"/>
            <a:ext cx="91440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800" b="0" i="0">
                <a:solidFill>
                  <a:srgbClr val="5F6B7A"/>
                </a:solidFill>
                <a:latin typeface="Arial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71323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0"/>
            <a:ext cx="713232" cy="5486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800" b="1" i="0">
                <a:solidFill>
                  <a:srgbClr val="5F6B7A"/>
                </a:solidFill>
                <a:latin typeface="Arial"/>
              </a:rPr>
              <a:t>LAB
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7589520" cy="4114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  <a:latin typeface="Arial"/>
              </a:rPr>
              <a:t>Next: 192-run campaign for the formal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58368"/>
            <a:ext cx="758952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Arial"/>
              </a:rPr>
              <a:t>Phase 1 factorial design with the July QoS traffic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987552"/>
            <a:ext cx="91440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813816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Arial"/>
              </a:rPr>
              <a:t>The remaining July analysis deliverable is traffic_qos_report.pdf. It needs a full multi-factor campaign, not single-run results.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83080"/>
          <a:ext cx="786384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023360"/>
                <a:gridCol w="1554480"/>
              </a:tblGrid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Factor</a:t>
                      </a:r>
                    </a:p>
                  </a:txBody>
                  <a:tcPr marL="50800" marR="508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Values</a:t>
                      </a:r>
                    </a:p>
                  </a:txBody>
                  <a:tcPr marL="50800" marR="508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Levels</a:t>
                      </a:r>
                    </a:p>
                  </a:txBody>
                  <a:tcPr marL="50800" marR="50800" marT="38100" marB="38100" anchor="ctr">
                    <a:solidFill>
                      <a:srgbClr val="1F4E79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Cellular mode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LTE, 5G NR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WiFi hotspot band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2.4 GHz, 5 GHz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STA count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5, 10, 15, 20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Payload / load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10 KB, 50 KB, 1 MB, 2 MB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RNG seed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6, 7, 8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</a:tr>
              <a:tr h="37229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2 × 2 × 4 × 4 × 3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192 runs</a:t>
                      </a:r>
                    </a:p>
                  </a:txBody>
                  <a:tcPr marL="50800" marR="50800" marT="38100" marB="38100" anchor="ctr">
                    <a:solidFill>
                      <a:srgbClr val="E9F2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11480" y="46634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4023360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4846320"/>
            <a:ext cx="374904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Arial"/>
              </a:rPr>
              <a:t>Campaign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166360"/>
            <a:ext cx="3749040" cy="2926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•  Control PDR and P99 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458968"/>
            <a:ext cx="3749040" cy="2926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•  LTE vs NR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5751576"/>
            <a:ext cx="3749040" cy="2926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•  Switch interruption statistics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46634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4663440"/>
            <a:ext cx="4023360" cy="73152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3752" y="4846320"/>
            <a:ext cx="374904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Arial"/>
              </a:rPr>
              <a:t>Report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5166360"/>
            <a:ext cx="3749040" cy="2926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•  Seed-averaged KPIs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5458968"/>
            <a:ext cx="3749040" cy="2926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•  Factor-level 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5751576"/>
            <a:ext cx="3749040" cy="2926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•  traffic_qos_report.pdf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658368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800" b="0" i="0">
                <a:solidFill>
                  <a:srgbClr val="5F6B7A"/>
                </a:solidFill>
                <a:latin typeface="Arial"/>
              </a:rPr>
              <a:t>Sheikh Sayed Bin Rahman  ·  PIC Lab, Kyushu Institute of Technology (KIT)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6537960"/>
            <a:ext cx="91440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r"/>
            <a:r>
              <a:rPr sz="800" b="0" i="0">
                <a:solidFill>
                  <a:srgbClr val="5F6B7A"/>
                </a:solidFill>
                <a:latin typeface="Arial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28600"/>
            <a:ext cx="960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960120" cy="5486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1" i="0">
                <a:solidFill>
                  <a:srgbClr val="5F6B7A"/>
                </a:solidFill>
                <a:latin typeface="Arial"/>
              </a:rPr>
              <a:t>LAB
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694944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600" b="0" i="0">
                <a:solidFill>
                  <a:srgbClr val="E9F2F9"/>
                </a:solidFill>
                <a:latin typeface="Arial"/>
              </a:rPr>
              <a:t>Questions and discussion are welcome.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3840480"/>
            <a:ext cx="51206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4023360"/>
            <a:ext cx="475488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500" b="1" i="0">
                <a:solidFill>
                  <a:srgbClr val="1F4E79"/>
                </a:solidFill>
                <a:latin typeface="Arial"/>
              </a:rPr>
              <a:t>Sheikh Sayed Bin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4389120"/>
            <a:ext cx="475488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Arial"/>
              </a:rPr>
              <a:t>PIC Lab, Kyushu Institute of Technology (KIT)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4754880"/>
            <a:ext cx="475488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100" b="0" i="0">
                <a:solidFill>
                  <a:srgbClr val="5F6B7A"/>
                </a:solidFill>
                <a:latin typeface="Arial"/>
              </a:rPr>
              <a:t>Hybrid Robot Network Simulator  ·  NS-3.45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55080"/>
            <a:ext cx="8412480" cy="2286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900" b="0" i="1">
                <a:solidFill>
                  <a:srgbClr val="E9F2F9"/>
                </a:solidFill>
                <a:latin typeface="Arial"/>
              </a:rPr>
              <a:t>Replace the top-left box with the PIC Lab 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